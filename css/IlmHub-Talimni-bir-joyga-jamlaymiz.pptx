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Heebo Light"/>
      <p:regular r:id="rId201314"/>
    </p:embeddedFont>
    <p:embeddedFont>
      <p:font typeface="Heebo Bold"/>
      <p:regular r:id="rId201315"/>
    </p:embeddedFont>
    <p:embeddedFont>
      <p:font typeface="Inter Tight"/>
      <p:regular r:id="rId201316"/>
    </p:embeddedFont>
    <p:embeddedFont>
      <p:font typeface="Inter Tigh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3" y="533400"/>
            <a:ext cx="1422364" cy="3849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48" y="533400"/>
            <a:ext cx="541006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EDTECH PLATFORM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685783" y="1872555"/>
            <a:ext cx="10820129" cy="3292277"/>
          </a:xfrm>
          <a:prstGeom prst="rect">
            <a:avLst/>
          </a:prstGeom>
          <a:solidFill>
            <a:srgbClr val="182C47"/>
          </a:solidFill>
          <a:ln/>
        </p:spPr>
      </p:sp>
      <p:sp>
        <p:nvSpPr>
          <p:cNvPr id="5" name="Text 2"/>
          <p:cNvSpPr/>
          <p:nvPr/>
        </p:nvSpPr>
        <p:spPr>
          <a:xfrm>
            <a:off x="914377" y="2101155"/>
            <a:ext cx="1059153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ILMHUB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377" y="2136676"/>
            <a:ext cx="10362941" cy="2349500"/>
          </a:xfrm>
          <a:prstGeom prst="rect">
            <a:avLst/>
          </a:prstGeom>
          <a:noFill/>
          <a:ln/>
        </p:spPr>
        <p:txBody>
          <a:bodyPr wrap="square" lIns="0" tIns="234944" rIns="0" bIns="234944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IlmHub: Ta’limni</a:t>
            </a:r>
            <a:endParaRPr lang="en-US" sz="7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bir joyga jamlaymiz</a:t>
            </a:r>
            <a:endParaRPr lang="en-US" sz="7400" dirty="0"/>
          </a:p>
        </p:txBody>
      </p:sp>
      <p:sp>
        <p:nvSpPr>
          <p:cNvPr id="7" name="Text 4"/>
          <p:cNvSpPr/>
          <p:nvPr/>
        </p:nvSpPr>
        <p:spPr>
          <a:xfrm>
            <a:off x="914377" y="4387751"/>
            <a:ext cx="10362941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O‘quvchi, o‘qituvchi va ta’lim tashkiloti uchun interaktiv o‘rganish, AI-yordam va natijalarni boshqarishni birlashtiruvchi yagona platforma.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783" y="6119019"/>
            <a:ext cx="11429714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Interaktiv o‘rganish · AI-yordam · natijalarni boshqarish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24605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01 / MUAMMO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007940" y="609600"/>
            <a:ext cx="757417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ILMHUB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943570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Ta’lim tajribasi hali ham parchalangan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9585" y="1742976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O‘rganish jarayoni bor, lekin uning barcha bosqichlari bir-biriga ulanmagan.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06811"/>
            <a:ext cx="5757123" cy="323840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585" y="5469037"/>
            <a:ext cx="5410065" cy="1256605"/>
          </a:xfrm>
          <a:prstGeom prst="roundRect">
            <a:avLst>
              <a:gd name="adj" fmla="val 12734"/>
            </a:avLst>
          </a:prstGeom>
          <a:solidFill>
            <a:srgbClr val="F0F1F4"/>
          </a:solidFill>
          <a:ln/>
        </p:spPr>
      </p:sp>
      <p:sp>
        <p:nvSpPr>
          <p:cNvPr id="8" name="Text 5"/>
          <p:cNvSpPr/>
          <p:nvPr/>
        </p:nvSpPr>
        <p:spPr>
          <a:xfrm>
            <a:off x="838179" y="5697637"/>
            <a:ext cx="4952876" cy="799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Muammo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Kontent, mashq, yordam va progress turli vositalarga bo‘linib ketadi.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046" y="5469037"/>
            <a:ext cx="5410065" cy="1256605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640" y="5697637"/>
            <a:ext cx="4952876" cy="799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Natija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O‘rganish jarayoni bor, lekin uning barcha bosqichlari bir-biriga ulanmagan.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09585" y="6469261"/>
            <a:ext cx="256930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IlmHub: Ta’limni bir joyga jamlaymiz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94036"/>
            <a:ext cx="408423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02 / MAHSULOT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650206"/>
            <a:ext cx="3474653" cy="2971502"/>
          </a:xfrm>
          <a:prstGeom prst="rect">
            <a:avLst/>
          </a:prstGeom>
          <a:noFill/>
          <a:ln/>
        </p:spPr>
        <p:txBody>
          <a:bodyPr wrap="square" lIns="0" tIns="114297" rIns="0" bIns="114297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IlmHub o‘rganishning to‘liq siklini bitta oynaga olib keladi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4643934"/>
            <a:ext cx="3474653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O‘quvchi darsdan testga, testdan yordamga, yordamdan natijaga boshqa ilovaga chiqmasdan o‘tadi.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60497" y="2759075"/>
            <a:ext cx="5821614" cy="1339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Learn:</a:t>
            </a:r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qisqa, interaktiv mikro-darslar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2"/>
            </a:pPr>
            <a:r>
              <a:rPr lang="en-US" sz="140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Practice:</a:t>
            </a:r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quiz, mashq va darhol feedback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3"/>
            </a:pPr>
            <a:r>
              <a:rPr lang="en-US" sz="140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Ask:</a:t>
            </a:r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kurs materiallariga tayangan AI tutor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4"/>
            </a:pPr>
            <a:r>
              <a:rPr lang="en-US" sz="140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Measure:</a:t>
            </a:r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o‘qituvchi analitikasi va progress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5"/>
            </a:pPr>
            <a:r>
              <a:rPr lang="en-US" sz="140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Connect:</a:t>
            </a:r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Study Battle orqali jamoaviy motivatsiya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585" y="6469261"/>
            <a:ext cx="256930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IlmHub: Ta’limni bir joyga jamlaymiz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29169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03 / QIYMAT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901283" y="609600"/>
            <a:ext cx="768082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A846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UCH ROL · BIR HUB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943570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Har bir rol uchun bitta aniq qiymat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9585" y="1825823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IlmHub bir xil mahsulotni uch xil ehtiyojga moslashtiradi.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189659"/>
            <a:ext cx="3454314" cy="4058741"/>
          </a:xfrm>
          <a:prstGeom prst="roundRect">
            <a:avLst>
              <a:gd name="adj" fmla="val 4632"/>
            </a:avLst>
          </a:prstGeom>
          <a:solidFill>
            <a:srgbClr val="0B1F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418259"/>
            <a:ext cx="355591" cy="355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8179" y="2789734"/>
            <a:ext cx="2997125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O‘quvchi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38179" y="3256459"/>
            <a:ext cx="2997125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O‘z tezligida o‘rganadi, savol beradi, quiz va Study Battle orqali faol qoladi.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68691" y="2189659"/>
            <a:ext cx="3454314" cy="4058741"/>
          </a:xfrm>
          <a:prstGeom prst="roundRect">
            <a:avLst>
              <a:gd name="adj" fmla="val 4632"/>
            </a:avLst>
          </a:prstGeom>
          <a:solidFill>
            <a:srgbClr val="A846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2418259"/>
            <a:ext cx="355591" cy="355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7285" y="2789734"/>
            <a:ext cx="2997125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O‘qituvchi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597285" y="3256459"/>
            <a:ext cx="2997125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Sinf progressini ko‘radi, qiyin mavzularni aniqlaydi va vaqtida intervention qiladi.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27797" y="2189659"/>
            <a:ext cx="3454314" cy="4058741"/>
          </a:xfrm>
          <a:prstGeom prst="roundRect">
            <a:avLst>
              <a:gd name="adj" fmla="val 4632"/>
            </a:avLst>
          </a:prstGeom>
          <a:solidFill>
            <a:srgbClr val="E8EAF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1" y="2418259"/>
            <a:ext cx="355591" cy="355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56391" y="2789734"/>
            <a:ext cx="2997125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Ta’lim tashkiloti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356391" y="3256459"/>
            <a:ext cx="2997125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Kurslar, foydalanuvchilar va hisobotlarni markazlashgan boshqaruvga oladi.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09585" y="6469261"/>
            <a:ext cx="256930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IlmHub: Ta’limni bir joyga jamlaymiz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48879"/>
            <a:ext cx="324605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04 / BIZNES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007940" y="1348879"/>
            <a:ext cx="757417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B2B / B2B2C SAAS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1682849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Barqaror SaaS modeli: pilotdan enterprise’gacha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09585" y="2482255"/>
            <a:ext cx="3555911" cy="1895971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710855"/>
            <a:ext cx="332731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PILOT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179" y="2917825"/>
            <a:ext cx="3098722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Isbotlash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8179" y="3384550"/>
            <a:ext cx="309872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1 ta tashkilot, cheklangan kurslar, natijani o‘lchash va tezkor feedback.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8179" y="3943945"/>
            <a:ext cx="332731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Narx: mijoz bilan aniqlanadi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7892" y="2482255"/>
            <a:ext cx="3555911" cy="1895971"/>
          </a:xfrm>
          <a:prstGeom prst="rect">
            <a:avLst/>
          </a:prstGeom>
          <a:solidFill>
            <a:srgbClr val="FCE5D2"/>
          </a:solidFill>
          <a:ln/>
        </p:spPr>
      </p:sp>
      <p:sp>
        <p:nvSpPr>
          <p:cNvPr id="11" name="Text 9"/>
          <p:cNvSpPr/>
          <p:nvPr/>
        </p:nvSpPr>
        <p:spPr>
          <a:xfrm>
            <a:off x="4546486" y="2710855"/>
            <a:ext cx="332731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GROWTH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6486" y="2917825"/>
            <a:ext cx="3098722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Foydalanishni kengaytirish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46486" y="3384550"/>
            <a:ext cx="309872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Faol o‘quvchi yoki seat soniga asoslangan oylik/yillik subscription.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46486" y="3943945"/>
            <a:ext cx="332731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Narx: mijoz bilan aniqlanadi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26199" y="2482255"/>
            <a:ext cx="3555911" cy="1895971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54793" y="2710855"/>
            <a:ext cx="332731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4793" y="2917825"/>
            <a:ext cx="3098722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Integratsiya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54793" y="3384550"/>
            <a:ext cx="309872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Kengaytirilgan analytics, SSO/API integratsiya, maxsus branding va SLA.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54793" y="3943945"/>
            <a:ext cx="332731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Narx: mijoz bilan aniqlanadi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585" y="4438551"/>
            <a:ext cx="10972526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Qo‘shimcha daromad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9585" y="4905276"/>
            <a:ext cx="10972526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Onboarding, kontent migratsiyasi va o‘qituvchi treninglari.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9585" y="5269111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Asosiy o‘sish dvigateli: ko‘proq faol o‘quvchi → ko‘proq foydalanish → yuqori retention → kengayadigan subscription.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9585" y="6469261"/>
            <a:ext cx="256930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IlmHub: Ta’limni bir joyga jamlaymiz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29169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F47B2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05 / YO‘L XARITASI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901283" y="609600"/>
            <a:ext cx="768082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PILOTDA O‘LCHANADI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943570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Keyingi qadam: nazoratli pilot orqali isbotlash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09585" y="2343348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DA6106"/>
          </a:solidFill>
          <a:ln/>
        </p:spPr>
      </p:sp>
      <p:sp>
        <p:nvSpPr>
          <p:cNvPr id="6" name="Shape 4"/>
          <p:cNvSpPr/>
          <p:nvPr/>
        </p:nvSpPr>
        <p:spPr>
          <a:xfrm>
            <a:off x="2354700" y="2343348"/>
            <a:ext cx="19050" cy="355600"/>
          </a:xfrm>
          <a:prstGeom prst="roundRect">
            <a:avLst>
              <a:gd name="adj" fmla="val 49999"/>
            </a:avLst>
          </a:prstGeom>
          <a:solidFill>
            <a:srgbClr val="DA6106"/>
          </a:solidFill>
          <a:ln/>
        </p:spPr>
      </p:sp>
      <p:sp>
        <p:nvSpPr>
          <p:cNvPr id="7" name="Shape 5"/>
          <p:cNvSpPr/>
          <p:nvPr/>
        </p:nvSpPr>
        <p:spPr>
          <a:xfrm>
            <a:off x="2297551" y="2276673"/>
            <a:ext cx="133347" cy="1333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Shape 6"/>
          <p:cNvSpPr/>
          <p:nvPr/>
        </p:nvSpPr>
        <p:spPr>
          <a:xfrm>
            <a:off x="2025302" y="2876748"/>
            <a:ext cx="677846" cy="305693"/>
          </a:xfrm>
          <a:prstGeom prst="roundRect">
            <a:avLst>
              <a:gd name="adj" fmla="val 41876"/>
            </a:avLst>
          </a:prstGeom>
          <a:solidFill>
            <a:srgbClr val="252528"/>
          </a:solidFill>
          <a:ln/>
        </p:spPr>
      </p:sp>
      <p:sp>
        <p:nvSpPr>
          <p:cNvPr id="9" name="Text 7"/>
          <p:cNvSpPr/>
          <p:nvPr/>
        </p:nvSpPr>
        <p:spPr>
          <a:xfrm>
            <a:off x="2131959" y="2930029"/>
            <a:ext cx="464531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0–3 OY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7380" y="3225602"/>
            <a:ext cx="3153688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MVP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086224" y="2343348"/>
            <a:ext cx="19050" cy="355600"/>
          </a:xfrm>
          <a:prstGeom prst="roundRect">
            <a:avLst>
              <a:gd name="adj" fmla="val 49999"/>
            </a:avLst>
          </a:prstGeom>
          <a:solidFill>
            <a:srgbClr val="DA6106"/>
          </a:solidFill>
          <a:ln/>
        </p:spPr>
      </p:sp>
      <p:sp>
        <p:nvSpPr>
          <p:cNvPr id="12" name="Shape 10"/>
          <p:cNvSpPr/>
          <p:nvPr/>
        </p:nvSpPr>
        <p:spPr>
          <a:xfrm>
            <a:off x="6029075" y="2276673"/>
            <a:ext cx="133347" cy="1333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3" name="Shape 11"/>
          <p:cNvSpPr/>
          <p:nvPr/>
        </p:nvSpPr>
        <p:spPr>
          <a:xfrm>
            <a:off x="5756826" y="2876748"/>
            <a:ext cx="677846" cy="305693"/>
          </a:xfrm>
          <a:prstGeom prst="roundRect">
            <a:avLst>
              <a:gd name="adj" fmla="val 41876"/>
            </a:avLst>
          </a:prstGeom>
          <a:solidFill>
            <a:srgbClr val="252528"/>
          </a:solidFill>
          <a:ln/>
        </p:spPr>
      </p:sp>
      <p:sp>
        <p:nvSpPr>
          <p:cNvPr id="14" name="Text 12"/>
          <p:cNvSpPr/>
          <p:nvPr/>
        </p:nvSpPr>
        <p:spPr>
          <a:xfrm>
            <a:off x="5863483" y="2930029"/>
            <a:ext cx="464531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4–6 OY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18855" y="3225602"/>
            <a:ext cx="3153788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O‘lchash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817847" y="2343348"/>
            <a:ext cx="19050" cy="355600"/>
          </a:xfrm>
          <a:prstGeom prst="roundRect">
            <a:avLst>
              <a:gd name="adj" fmla="val 49999"/>
            </a:avLst>
          </a:prstGeom>
          <a:solidFill>
            <a:srgbClr val="DA6106"/>
          </a:solidFill>
          <a:ln/>
        </p:spPr>
      </p:sp>
      <p:sp>
        <p:nvSpPr>
          <p:cNvPr id="17" name="Shape 15"/>
          <p:cNvSpPr/>
          <p:nvPr/>
        </p:nvSpPr>
        <p:spPr>
          <a:xfrm>
            <a:off x="9760698" y="2276673"/>
            <a:ext cx="133347" cy="1333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8" name="Shape 16"/>
          <p:cNvSpPr/>
          <p:nvPr/>
        </p:nvSpPr>
        <p:spPr>
          <a:xfrm>
            <a:off x="9448960" y="2876748"/>
            <a:ext cx="756921" cy="305693"/>
          </a:xfrm>
          <a:prstGeom prst="roundRect">
            <a:avLst>
              <a:gd name="adj" fmla="val 41876"/>
            </a:avLst>
          </a:prstGeom>
          <a:solidFill>
            <a:srgbClr val="252528"/>
          </a:solidFill>
          <a:ln/>
        </p:spPr>
      </p:sp>
      <p:sp>
        <p:nvSpPr>
          <p:cNvPr id="19" name="Text 17"/>
          <p:cNvSpPr/>
          <p:nvPr/>
        </p:nvSpPr>
        <p:spPr>
          <a:xfrm>
            <a:off x="9555618" y="2930029"/>
            <a:ext cx="543606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7–12 OY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50478" y="3225602"/>
            <a:ext cx="3153788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Kengaytirish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09585" y="4197449"/>
            <a:ext cx="3555911" cy="12299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38179" y="4426049"/>
            <a:ext cx="332731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0–3 OY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8179" y="4718745"/>
            <a:ext cx="309872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PWA MVP, asosiy kurslar, manbaga tayangan AI tutor, birinchi pilot.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17892" y="4197449"/>
            <a:ext cx="3555911" cy="12299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46486" y="4426049"/>
            <a:ext cx="332731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4–6 OY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46486" y="4718745"/>
            <a:ext cx="309872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Teacher analytics, Study Battle, aktivlik va completion metrikalarini o‘lchash.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26199" y="4197449"/>
            <a:ext cx="3555911" cy="12299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8254793" y="4426049"/>
            <a:ext cx="332731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7–12 OY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54793" y="4718745"/>
            <a:ext cx="309872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Enterprise funksiyalar, integratsiyalar va takrorlanuvchi SaaS sotuv jarayoni.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377" y="5779790"/>
            <a:ext cx="10667733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Texnik asos: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bitta React asosidagi PWA orqali web, Android va iOS’da uzluksiz tajriba.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9585" y="6469261"/>
            <a:ext cx="256930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IlmHub: Ta’limni bir joyga jamlaymiz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09600"/>
            <a:ext cx="1498563" cy="4056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48" y="609600"/>
            <a:ext cx="5486263" cy="202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150" spc="34" kern="1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KEYINGI QADAM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1193770" y="1608931"/>
            <a:ext cx="10388340" cy="202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spc="34" kern="1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ILMHUB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93770" y="1639689"/>
            <a:ext cx="9804155" cy="2225675"/>
          </a:xfrm>
          <a:prstGeom prst="rect">
            <a:avLst/>
          </a:prstGeom>
          <a:noFill/>
          <a:ln/>
        </p:spPr>
        <p:txBody>
          <a:bodyPr wrap="square" lIns="0" tIns="222579" rIns="0" bIns="222579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IlmHub bilan keyingi avlod ta’lim tajribasini quramiz</a:t>
            </a:r>
            <a:endParaRPr lang="en-US" sz="7000" dirty="0"/>
          </a:p>
        </p:txBody>
      </p:sp>
      <p:sp>
        <p:nvSpPr>
          <p:cNvPr id="6" name="Text 3"/>
          <p:cNvSpPr/>
          <p:nvPr/>
        </p:nvSpPr>
        <p:spPr>
          <a:xfrm>
            <a:off x="1193770" y="3769519"/>
            <a:ext cx="10388340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Biz minglab alohida ilovalarni ko‘paytirmaymiz. Eng kerakli funksiyalarni bitta qulay Hub’ga birlashtiramiz.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9585" y="4670623"/>
            <a:ext cx="3555911" cy="12769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838179" y="4839097"/>
            <a:ext cx="3098722" cy="408980"/>
          </a:xfrm>
          <a:prstGeom prst="rect">
            <a:avLst/>
          </a:prstGeom>
          <a:noFill/>
          <a:ln/>
        </p:spPr>
        <p:txBody>
          <a:bodyPr wrap="none" lIns="0" tIns="60156" rIns="0" bIns="60156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Mijozlar uchun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38179" y="5276255"/>
            <a:ext cx="3327317" cy="22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4–6 haftalik pilotni boshlash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17892" y="4670623"/>
            <a:ext cx="3555911" cy="12769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4546486" y="4839097"/>
            <a:ext cx="3098722" cy="408980"/>
          </a:xfrm>
          <a:prstGeom prst="rect">
            <a:avLst/>
          </a:prstGeom>
          <a:noFill/>
          <a:ln/>
        </p:spPr>
        <p:txBody>
          <a:bodyPr wrap="none" lIns="0" tIns="60156" rIns="0" bIns="60156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Hamkorlar uchun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546486" y="5276255"/>
            <a:ext cx="3098722" cy="442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Kurslar, kontent va tarqatish kanallarini birga rivojlantirish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026199" y="4670623"/>
            <a:ext cx="3555911" cy="1276945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4" name="Text 11"/>
          <p:cNvSpPr/>
          <p:nvPr/>
        </p:nvSpPr>
        <p:spPr>
          <a:xfrm>
            <a:off x="8254793" y="4839097"/>
            <a:ext cx="3098722" cy="408980"/>
          </a:xfrm>
          <a:prstGeom prst="rect">
            <a:avLst/>
          </a:prstGeom>
          <a:noFill/>
          <a:ln/>
        </p:spPr>
        <p:txBody>
          <a:bodyPr wrap="none" lIns="0" tIns="60156" rIns="0" bIns="60156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D1D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Keyingi qaror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254793" y="5276255"/>
            <a:ext cx="3098722" cy="442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1D1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Pilot mezonlari, maqsadli auditoriya va birinchi kursni belgilash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04792" y="6058694"/>
            <a:ext cx="11582110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Pilot orqali isbotlaymiz. Birgalikda kengaytiramiz.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2026-10-04T06:53:15Z</dcterms:created>
  <dcterms:modified xsi:type="dcterms:W3CDTF">2026-10-04T06:53:15Z</dcterms:modified>
</cp:coreProperties>
</file>