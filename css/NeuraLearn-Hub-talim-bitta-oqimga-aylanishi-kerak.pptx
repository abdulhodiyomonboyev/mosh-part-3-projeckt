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Inter SemiBold"/>
      <p:regular r:id="rId201314"/>
    </p:embeddedFont>
    <p:embeddedFont>
      <p:font typeface="Inter Bold"/>
      <p:regular r:id="rId201315"/>
    </p:embeddedFont>
    <p:embeddedFont>
      <p:font typeface="Inter"/>
      <p:regular r:id="rId201316"/>
    </p:embeddedFont>
    <p:embeddedFont>
      <p:font typeface="Manrope SemiBold"/>
      <p:regular r:id="rId201317"/>
    </p:embeddedFont>
    <p:embeddedFont>
      <p:font typeface="Manrope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NeuraLearn Hub ta’limdagi alohida vositalarni ko‘paytirishni emas, ularni bitta oqimga yig‘ishni taklif qiladi. O‘quvchi darsdan mashqqa, savoldan natijaga o‘tishda muhitni almashtirmaydi.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Muammo bitta vositaning yomonligida emas. Muammo jarayonning bo‘linib ketganida: kontent, test va yordam turli joylarda. Bu holat o‘quvchini chalg‘itadi, o‘qituvchiga esa qayerda qiyinchilik borligini ko‘rishni qiyinlashtiradi.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siklning kuchi alohida funksiyalarda emas, ularning uzluksizligida. O‘quvchi mavzuni o‘rganadi, tekshiradi, savol beradi, motivatsiyani saqlaydi va o‘qituvchi keyingi qadamni shu jarayon ichida belgilaydi.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yerda mahsulotning eng kuchli oqimi ko‘rinadi. Bir mavzu doirasida reja, nazariya, test, AI Hint va o‘qituvchi ko‘radigan progress bir-biridan uzilmaydi.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tutorning vazifasi tayyor javobni tashlab ketish emas. U o‘quvchi turgan dars kontekstidan kelib chiqib tushuntiradi, misol beradi yoki keyingi yo‘lni ko‘rsatadi. Shu bilan birga, kontent nazorati o‘qituvchi va tashkilotda qoladi.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O‘qituvchi o‘quvchi nimani bilmasligini taxmin qilmasligi kerak. Panelda mavzu, xato, faollik va vaqt birgalikda ko‘rinadi. Shunda qo‘shimcha tushuntirish umumiy emas, aniq muammoga mos bo‘ladi. Platforma PWA sifatida kompyuterda ham, telefonda ham uzluksiz ishlashga mo‘ljallanadi.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Pilotni katta va noaniq boshlash shart emas. Bitta fan yoki guruhdan boshlaymiz, uchta asosiy ssenariyni ishlaymiz, real foydalanuvchilar bilan sinaymiz va feedback asosida keyingi modullarni kengaytiramiz. Shu yo‘l bilan NeuraLearn Hub ishga tushirish mumkin bo‘lgan mahsulotga aylanadi.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7F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2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7F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e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528431" cy="6858000"/>
          </a:xfrm>
          <a:prstGeom prst="rect">
            <a:avLst/>
          </a:prstGeom>
          <a:solidFill>
            <a:srgbClr val="FFFFFF"/>
          </a:solidFill>
          <a:ln/>
        </p:spPr>
      </p:sp>
      <p:sp>
        <p:nvSpPr>
          <p:cNvPr id="3" name="Text 1"/>
          <p:cNvSpPr/>
          <p:nvPr/>
        </p:nvSpPr>
        <p:spPr>
          <a:xfrm>
            <a:off x="457189" y="1796256"/>
            <a:ext cx="7071243"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111214"/>
                </a:solidFill>
                <a:latin typeface="Inter SemiBold" pitchFamily="34" charset="0"/>
                <a:ea typeface="Inter SemiBold" pitchFamily="34" charset="-122"/>
                <a:cs typeface="Inter SemiBold" pitchFamily="34" charset="-120"/>
              </a:rPr>
              <a:t>NEURALEARN HUB · PITCH</a:t>
            </a:r>
            <a:endParaRPr lang="en-US" sz="1200" dirty="0"/>
          </a:p>
        </p:txBody>
      </p:sp>
      <p:sp>
        <p:nvSpPr>
          <p:cNvPr id="4" name="Text 2"/>
          <p:cNvSpPr/>
          <p:nvPr/>
        </p:nvSpPr>
        <p:spPr>
          <a:xfrm>
            <a:off x="457189" y="2066131"/>
            <a:ext cx="6614054" cy="3086497"/>
          </a:xfrm>
          <a:prstGeom prst="rect">
            <a:avLst/>
          </a:prstGeom>
          <a:noFill/>
          <a:ln/>
        </p:spPr>
        <p:txBody>
          <a:bodyPr wrap="square" lIns="0" tIns="0" rIns="0" bIns="0" rtlCol="0" anchor="t">
            <a:normAutofit/>
          </a:bodyPr>
          <a:lstStyle/>
          <a:p>
            <a:pPr algn="l" indent="0" marL="0">
              <a:lnSpc>
                <a:spcPct val="82000"/>
              </a:lnSpc>
              <a:buNone/>
            </a:pPr>
            <a:r>
              <a:rPr lang="en-US" sz="6200" b="1" spc="-217" kern="100" dirty="0">
                <a:solidFill>
                  <a:srgbClr val="111214"/>
                </a:solidFill>
                <a:latin typeface="Manrope Bold" pitchFamily="34" charset="0"/>
                <a:ea typeface="Manrope Bold" pitchFamily="34" charset="-122"/>
                <a:cs typeface="Manrope Bold" pitchFamily="34" charset="-120"/>
              </a:rPr>
              <a:t>NeuraLearn Hub:</a:t>
            </a:r>
            <a:endParaRPr lang="en-US" sz="6200" dirty="0"/>
          </a:p>
          <a:p>
            <a:pPr algn="l" indent="0" marL="0">
              <a:lnSpc>
                <a:spcPct val="82000"/>
              </a:lnSpc>
              <a:buNone/>
            </a:pPr>
            <a:r>
              <a:rPr lang="en-US" sz="6200" b="1" spc="-217" kern="100" dirty="0">
                <a:solidFill>
                  <a:srgbClr val="111214"/>
                </a:solidFill>
                <a:latin typeface="Manrope Bold" pitchFamily="34" charset="0"/>
                <a:ea typeface="Manrope Bold" pitchFamily="34" charset="-122"/>
                <a:cs typeface="Manrope Bold" pitchFamily="34" charset="-120"/>
              </a:rPr>
              <a:t>ta’lim bitta oqimga aylanishi kerak</a:t>
            </a:r>
            <a:endParaRPr lang="en-US" sz="6200" dirty="0"/>
          </a:p>
        </p:txBody>
      </p:sp>
      <p:sp>
        <p:nvSpPr>
          <p:cNvPr id="5" name="Text 3"/>
          <p:cNvSpPr/>
          <p:nvPr/>
        </p:nvSpPr>
        <p:spPr>
          <a:xfrm>
            <a:off x="457189" y="5349478"/>
            <a:ext cx="6614054" cy="1051322"/>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111214"/>
                </a:solidFill>
                <a:latin typeface="Inter" pitchFamily="34" charset="0"/>
                <a:ea typeface="Inter" pitchFamily="34" charset="-122"/>
                <a:cs typeface="Inter" pitchFamily="34" charset="-120"/>
              </a:rPr>
              <a:t>O‘quvchi dars, mashq, savol-javob va natija uchun turli vositalarga sakramaydi. Bularning barchasi bitta yagona ta’lim muhitida ishlaydi.</a:t>
            </a:r>
            <a:endParaRPr lang="en-US" sz="2000" dirty="0"/>
          </a:p>
        </p:txBody>
      </p:sp>
      <p:sp>
        <p:nvSpPr>
          <p:cNvPr id="6" name="Shape 4"/>
          <p:cNvSpPr/>
          <p:nvPr/>
        </p:nvSpPr>
        <p:spPr>
          <a:xfrm>
            <a:off x="8290313" y="3862586"/>
            <a:ext cx="3444194" cy="2538214"/>
          </a:xfrm>
          <a:prstGeom prst="roundRect">
            <a:avLst>
              <a:gd name="adj" fmla="val 8406"/>
            </a:avLst>
          </a:prstGeom>
          <a:solidFill>
            <a:srgbClr val="4F46E5"/>
          </a:solidFill>
          <a:ln/>
          <a:effectLst>
            <a:outerShdw sx="100000" sy="100000" kx="0" ky="0" algn="bl" rotWithShape="0" blurRad="100330" dist="24130" dir="5400000">
              <a:srgbClr val="ffffff">
                <a:alpha val="1000"/>
              </a:srgbClr>
            </a:outerShdw>
          </a:effectLst>
        </p:spPr>
      </p:sp>
      <p:sp>
        <p:nvSpPr>
          <p:cNvPr id="7" name="Text 5"/>
          <p:cNvSpPr/>
          <p:nvPr/>
        </p:nvSpPr>
        <p:spPr>
          <a:xfrm>
            <a:off x="8518907" y="4065786"/>
            <a:ext cx="3215599"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FFFFFF"/>
                </a:solidFill>
                <a:latin typeface="Inter SemiBold" pitchFamily="34" charset="0"/>
                <a:ea typeface="Inter SemiBold" pitchFamily="34" charset="-122"/>
                <a:cs typeface="Inter SemiBold" pitchFamily="34" charset="-120"/>
              </a:rPr>
              <a:t>ASOSIY G‘OYA</a:t>
            </a:r>
            <a:endParaRPr lang="en-US" sz="1200" dirty="0"/>
          </a:p>
        </p:txBody>
      </p:sp>
      <p:sp>
        <p:nvSpPr>
          <p:cNvPr id="8" name="Text 6"/>
          <p:cNvSpPr/>
          <p:nvPr/>
        </p:nvSpPr>
        <p:spPr>
          <a:xfrm>
            <a:off x="8518907" y="4335661"/>
            <a:ext cx="2987005" cy="825500"/>
          </a:xfrm>
          <a:prstGeom prst="rect">
            <a:avLst/>
          </a:prstGeom>
          <a:noFill/>
          <a:ln/>
        </p:spPr>
        <p:txBody>
          <a:bodyPr wrap="square" lIns="0" tIns="0" rIns="0" bIns="0" rtlCol="0" anchor="t">
            <a:normAutofit/>
          </a:bodyPr>
          <a:lstStyle/>
          <a:p>
            <a:pPr algn="l" indent="0" marL="0">
              <a:lnSpc>
                <a:spcPct val="104000"/>
              </a:lnSpc>
              <a:buNone/>
            </a:pPr>
            <a:r>
              <a:rPr lang="en-US" sz="2600" spc="-13" kern="100" dirty="0">
                <a:solidFill>
                  <a:srgbClr val="FFFFFF"/>
                </a:solidFill>
                <a:latin typeface="Inter SemiBold" pitchFamily="34" charset="0"/>
                <a:ea typeface="Inter SemiBold" pitchFamily="34" charset="-122"/>
                <a:cs typeface="Inter SemiBold" pitchFamily="34" charset="-120"/>
              </a:rPr>
              <a:t>O‘rganish yo‘qolmaydi.</a:t>
            </a:r>
            <a:endParaRPr lang="en-US" sz="2600" dirty="0"/>
          </a:p>
        </p:txBody>
      </p:sp>
      <p:sp>
        <p:nvSpPr>
          <p:cNvPr id="9" name="Text 7"/>
          <p:cNvSpPr/>
          <p:nvPr/>
        </p:nvSpPr>
        <p:spPr>
          <a:xfrm>
            <a:off x="8518907" y="5304036"/>
            <a:ext cx="2987005"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nter" pitchFamily="34" charset="0"/>
                <a:ea typeface="Inter" pitchFamily="34" charset="-122"/>
                <a:cs typeface="Inter" pitchFamily="34" charset="-120"/>
              </a:rPr>
              <a:t>Har bir keyingi qadam shu muhitning ichida davom etadi.</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04792" y="304800"/>
            <a:ext cx="7010225"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BUGUNGI MUAMMO</a:t>
            </a:r>
            <a:endParaRPr lang="en-US" sz="1200" dirty="0"/>
          </a:p>
        </p:txBody>
      </p:sp>
      <p:sp>
        <p:nvSpPr>
          <p:cNvPr id="3" name="Text 1"/>
          <p:cNvSpPr/>
          <p:nvPr/>
        </p:nvSpPr>
        <p:spPr>
          <a:xfrm>
            <a:off x="304792" y="574675"/>
            <a:ext cx="6705432" cy="1173361"/>
          </a:xfrm>
          <a:prstGeom prst="rect">
            <a:avLst/>
          </a:prstGeom>
          <a:noFill/>
          <a:ln/>
        </p:spPr>
        <p:txBody>
          <a:bodyPr wrap="square" lIns="0" tIns="0" rIns="0" bIns="0" rtlCol="0" anchor="t">
            <a:normAutofit/>
          </a:bodyPr>
          <a:lstStyle/>
          <a:p>
            <a:pPr algn="l" indent="0" marL="0">
              <a:lnSpc>
                <a:spcPct val="87000"/>
              </a:lnSpc>
              <a:buNone/>
            </a:pPr>
            <a:r>
              <a:rPr lang="en-US" sz="4400" spc="-97" kern="100" dirty="0">
                <a:solidFill>
                  <a:srgbClr val="111214"/>
                </a:solidFill>
                <a:latin typeface="Manrope SemiBold" pitchFamily="34" charset="0"/>
                <a:ea typeface="Manrope SemiBold" pitchFamily="34" charset="-122"/>
                <a:cs typeface="Manrope SemiBold" pitchFamily="34" charset="-120"/>
              </a:rPr>
              <a:t>Ta’lim jarayoni parchalangan</a:t>
            </a:r>
            <a:endParaRPr lang="en-US" sz="4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04792" y="1944886"/>
          <a:ext cx="6705432" cy="914400"/>
        </p:xfrm>
        <a:graphic>
          <a:graphicData uri="http://schemas.openxmlformats.org/drawingml/2006/table">
            <a:tbl>
              <a:tblPr/>
              <a:tblGrid>
                <a:gridCol w="804644"/>
                <a:gridCol w="5900788"/>
              </a:tblGrid>
              <a:tr h="781030">
                <a:tc>
                  <a:txBody>
                    <a:bodyPr/>
                    <a:lstStyle/>
                    <a:p>
                      <a:pPr indent="0" marL="0">
                        <a:buNone/>
                      </a:pP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F7F7F5"/>
                      </a:solidFill>
                      <a:prstDash val="solid"/>
                      <a:round/>
                      <a:headEnd type="none" w="med" len="med"/>
                      <a:tailEnd type="none" w="med" len="med"/>
                    </a:lnT>
                    <a:lnB w="12700" cap="flat" cmpd="sng" algn="ctr">
                      <a:solidFill>
                        <a:srgbClr val="D8D9DE"/>
                      </a:solidFill>
                      <a:prstDash val="solid"/>
                      <a:round/>
                      <a:headEnd type="none" w="med" len="med"/>
                      <a:tailEnd type="none" w="med" len="med"/>
                    </a:lnB>
                  </a:tcPr>
                </a:tc>
                <a:tc>
                  <a:txBody>
                    <a:bodyPr/>
                    <a:lstStyle/>
                    <a:p>
                      <a:pPr algn="l" indent="0" marL="0">
                        <a:buNone/>
                      </a:pPr>
                      <a:r>
                        <a:rPr lang="en-US" sz="1700" dirty="0">
                          <a:solidFill>
                            <a:srgbClr val="111214"/>
                          </a:solidFill>
                          <a:latin typeface="Inter" pitchFamily="34" charset="0"/>
                          <a:ea typeface="Inter" pitchFamily="34" charset="-122"/>
                          <a:cs typeface="Inter" pitchFamily="34" charset="-120"/>
                        </a:rPr>
                        <a:t>Kontent bir joyda; test va savolga yordam boshqa vositalarda.</a:t>
                      </a: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F7F7F5"/>
                      </a:solidFill>
                      <a:prstDash val="solid"/>
                      <a:round/>
                      <a:headEnd type="none" w="med" len="med"/>
                      <a:tailEnd type="none" w="med" len="med"/>
                    </a:lnT>
                    <a:lnB w="12700" cap="flat" cmpd="sng" algn="ctr">
                      <a:solidFill>
                        <a:srgbClr val="D8D9DE"/>
                      </a:solidFill>
                      <a:prstDash val="solid"/>
                      <a:round/>
                      <a:headEnd type="none" w="med" len="med"/>
                      <a:tailEnd type="none" w="med" len="med"/>
                    </a:lnB>
                  </a:tcPr>
                </a:tc>
              </a:tr>
              <a:tr h="781030">
                <a:tc>
                  <a:txBody>
                    <a:bodyPr/>
                    <a:lstStyle/>
                    <a:p>
                      <a:pPr indent="0" marL="0">
                        <a:buNone/>
                      </a:pP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D8D9DE"/>
                      </a:solidFill>
                      <a:prstDash val="solid"/>
                      <a:round/>
                      <a:headEnd type="none" w="med" len="med"/>
                      <a:tailEnd type="none" w="med" len="med"/>
                    </a:lnT>
                    <a:lnB w="12700" cap="flat" cmpd="sng" algn="ctr">
                      <a:solidFill>
                        <a:srgbClr val="D8D9DE"/>
                      </a:solidFill>
                      <a:prstDash val="solid"/>
                      <a:round/>
                      <a:headEnd type="none" w="med" len="med"/>
                      <a:tailEnd type="none" w="med" len="med"/>
                    </a:lnB>
                  </a:tcPr>
                </a:tc>
                <a:tc>
                  <a:txBody>
                    <a:bodyPr/>
                    <a:lstStyle/>
                    <a:p>
                      <a:pPr algn="l" indent="0" marL="0">
                        <a:buNone/>
                      </a:pPr>
                      <a:r>
                        <a:rPr lang="en-US" sz="1700" dirty="0">
                          <a:solidFill>
                            <a:srgbClr val="111214"/>
                          </a:solidFill>
                          <a:latin typeface="Inter" pitchFamily="34" charset="0"/>
                          <a:ea typeface="Inter" pitchFamily="34" charset="-122"/>
                          <a:cs typeface="Inter" pitchFamily="34" charset="-120"/>
                        </a:rPr>
                        <a:t>Context switching chalg‘itadi va o‘rganish oqimini uzadi.</a:t>
                      </a: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D8D9DE"/>
                      </a:solidFill>
                      <a:prstDash val="solid"/>
                      <a:round/>
                      <a:headEnd type="none" w="med" len="med"/>
                      <a:tailEnd type="none" w="med" len="med"/>
                    </a:lnT>
                    <a:lnB w="12700" cap="flat" cmpd="sng" algn="ctr">
                      <a:solidFill>
                        <a:srgbClr val="D8D9DE"/>
                      </a:solidFill>
                      <a:prstDash val="solid"/>
                      <a:round/>
                      <a:headEnd type="none" w="med" len="med"/>
                      <a:tailEnd type="none" w="med" len="med"/>
                    </a:lnB>
                  </a:tcPr>
                </a:tc>
              </a:tr>
              <a:tr h="768331">
                <a:tc>
                  <a:txBody>
                    <a:bodyPr/>
                    <a:lstStyle/>
                    <a:p>
                      <a:pPr indent="0" marL="0">
                        <a:buNone/>
                      </a:pP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D8D9DE"/>
                      </a:solidFill>
                      <a:prstDash val="solid"/>
                      <a:round/>
                      <a:headEnd type="none" w="med" len="med"/>
                      <a:tailEnd type="none" w="med" len="med"/>
                    </a:lnT>
                    <a:lnB w="12700" cap="flat" cmpd="sng" algn="ctr">
                      <a:solidFill>
                        <a:srgbClr val="F7F7F5"/>
                      </a:solidFill>
                      <a:prstDash val="solid"/>
                      <a:round/>
                      <a:headEnd type="none" w="med" len="med"/>
                      <a:tailEnd type="none" w="med" len="med"/>
                    </a:lnB>
                  </a:tcPr>
                </a:tc>
                <a:tc>
                  <a:txBody>
                    <a:bodyPr/>
                    <a:lstStyle/>
                    <a:p>
                      <a:pPr algn="l" indent="0" marL="0">
                        <a:buNone/>
                      </a:pPr>
                      <a:r>
                        <a:rPr lang="en-US" sz="1700" dirty="0">
                          <a:solidFill>
                            <a:srgbClr val="111214"/>
                          </a:solidFill>
                          <a:latin typeface="Inter" pitchFamily="34" charset="0"/>
                          <a:ea typeface="Inter" pitchFamily="34" charset="-122"/>
                          <a:cs typeface="Inter" pitchFamily="34" charset="-120"/>
                        </a:rPr>
                        <a:t>O‘qituvchi o‘quvchi qayerda qiynalayotganini to‘liq ko‘ra olmaydi.</a:t>
                      </a:r>
                      <a:endParaRPr lang="en-US" sz="1700" dirty="0">
                        <a:latin typeface="Inter" charset="0"/>
                        <a:ea typeface="Inter" charset="0"/>
                        <a:cs typeface="Inter" charset="0"/>
                      </a:endParaRPr>
                    </a:p>
                  </a:txBody>
                  <a:tcPr marL="161921" marR="161921" marT="86358" marB="86358" anchor="ctr">
                    <a:lnL w="12700" cap="flat" cmpd="sng" algn="ctr">
                      <a:solidFill>
                        <a:srgbClr val="F7F7F5"/>
                      </a:solidFill>
                      <a:prstDash val="solid"/>
                      <a:round/>
                      <a:headEnd type="none" w="med" len="med"/>
                      <a:tailEnd type="none" w="med" len="med"/>
                    </a:lnL>
                    <a:lnR w="12700" cap="flat" cmpd="sng" algn="ctr">
                      <a:solidFill>
                        <a:srgbClr val="F7F7F5"/>
                      </a:solidFill>
                      <a:prstDash val="solid"/>
                      <a:round/>
                      <a:headEnd type="none" w="med" len="med"/>
                      <a:tailEnd type="none" w="med" len="med"/>
                    </a:lnR>
                    <a:lnT w="12700" cap="flat" cmpd="sng" algn="ctr">
                      <a:solidFill>
                        <a:srgbClr val="D8D9DE"/>
                      </a:solidFill>
                      <a:prstDash val="solid"/>
                      <a:round/>
                      <a:headEnd type="none" w="med" len="med"/>
                      <a:tailEnd type="none" w="med" len="med"/>
                    </a:lnT>
                    <a:lnB w="12700" cap="flat" cmpd="sng" algn="ctr">
                      <a:solidFill>
                        <a:srgbClr val="F7F7F5"/>
                      </a:solidFill>
                      <a:prstDash val="solid"/>
                      <a:round/>
                      <a:headEnd type="none" w="med" len="med"/>
                      <a:tailEnd type="none" w="med" len="med"/>
                    </a:lnB>
                  </a:tcPr>
                </a:tc>
              </a:tr>
            </a:tbl>
          </a:graphicData>
        </a:graphic>
      </p:graphicFrame>
      <p:pic>
        <p:nvPicPr>
          <p:cNvPr id="5" name="Image 0" descr="preencoded.png">    </p:cNvPr>
          <p:cNvPicPr>
            <a:picLocks noChangeAspect="1"/>
          </p:cNvPicPr>
          <p:nvPr/>
        </p:nvPicPr>
        <p:blipFill>
          <a:blip r:embed="rId1"/>
          <a:stretch>
            <a:fillRect/>
          </a:stretch>
        </p:blipFill>
        <p:spPr>
          <a:xfrm>
            <a:off x="466713" y="2197894"/>
            <a:ext cx="269868" cy="269875"/>
          </a:xfrm>
          <a:prstGeom prst="rect">
            <a:avLst/>
          </a:prstGeom>
        </p:spPr>
      </p:pic>
      <p:pic>
        <p:nvPicPr>
          <p:cNvPr id="6" name="Image 1" descr="preencoded.png">    </p:cNvPr>
          <p:cNvPicPr>
            <a:picLocks noChangeAspect="1"/>
          </p:cNvPicPr>
          <p:nvPr/>
        </p:nvPicPr>
        <p:blipFill>
          <a:blip r:embed="rId2"/>
          <a:stretch>
            <a:fillRect/>
          </a:stretch>
        </p:blipFill>
        <p:spPr>
          <a:xfrm>
            <a:off x="466713" y="2978944"/>
            <a:ext cx="269868" cy="269875"/>
          </a:xfrm>
          <a:prstGeom prst="rect">
            <a:avLst/>
          </a:prstGeom>
        </p:spPr>
      </p:pic>
      <p:pic>
        <p:nvPicPr>
          <p:cNvPr id="7" name="Image 2" descr="preencoded.png">    </p:cNvPr>
          <p:cNvPicPr>
            <a:picLocks noChangeAspect="1"/>
          </p:cNvPicPr>
          <p:nvPr/>
        </p:nvPicPr>
        <p:blipFill>
          <a:blip r:embed="rId3"/>
          <a:stretch>
            <a:fillRect/>
          </a:stretch>
        </p:blipFill>
        <p:spPr>
          <a:xfrm>
            <a:off x="466713" y="3759994"/>
            <a:ext cx="269868" cy="269875"/>
          </a:xfrm>
          <a:prstGeom prst="rect">
            <a:avLst/>
          </a:prstGeom>
        </p:spPr>
      </p:pic>
      <p:sp>
        <p:nvSpPr>
          <p:cNvPr id="8" name="Text 2"/>
          <p:cNvSpPr/>
          <p:nvPr/>
        </p:nvSpPr>
        <p:spPr>
          <a:xfrm>
            <a:off x="304792" y="4453136"/>
            <a:ext cx="7010225" cy="222845"/>
          </a:xfrm>
          <a:prstGeom prst="rect">
            <a:avLst/>
          </a:prstGeom>
          <a:noFill/>
          <a:ln/>
        </p:spPr>
        <p:txBody>
          <a:bodyPr wrap="none" lIns="0" tIns="0" rIns="0" bIns="0" rtlCol="0" anchor="t"/>
          <a:lstStyle/>
          <a:p>
            <a:pPr algn="l" indent="0" marL="0">
              <a:lnSpc>
                <a:spcPct val="113000"/>
              </a:lnSpc>
              <a:buNone/>
            </a:pPr>
            <a:r>
              <a:rPr lang="en-US" sz="1300" spc="13" kern="100" dirty="0">
                <a:solidFill>
                  <a:srgbClr val="5B5E66"/>
                </a:solidFill>
                <a:latin typeface="Inter" pitchFamily="34" charset="0"/>
                <a:ea typeface="Inter" pitchFamily="34" charset="-122"/>
                <a:cs typeface="Inter" pitchFamily="34" charset="-120"/>
              </a:rPr>
              <a:t>NeuraLearn Hub bularni bitta oynada birlashtirish uchun yaratiladi.</a:t>
            </a:r>
            <a:endParaRPr lang="en-US" sz="1300" dirty="0"/>
          </a:p>
        </p:txBody>
      </p:sp>
      <p:sp>
        <p:nvSpPr>
          <p:cNvPr id="9" name="Shape 3"/>
          <p:cNvSpPr/>
          <p:nvPr/>
        </p:nvSpPr>
        <p:spPr>
          <a:xfrm>
            <a:off x="7315017" y="0"/>
            <a:ext cx="4876678" cy="6858000"/>
          </a:xfrm>
          <a:prstGeom prst="roundRect">
            <a:avLst>
              <a:gd name="adj" fmla="val 4375"/>
            </a:avLst>
          </a:prstGeom>
          <a:noFill/>
          <a:ln/>
          <a:effectLst>
            <a:outerShdw sx="100000" sy="100000" kx="0" ky="0" algn="bl" rotWithShape="0" blurRad="100330" dist="24130" dir="5400000">
              <a:srgbClr val="111214">
                <a:alpha val="1000"/>
              </a:srgbClr>
            </a:outerShdw>
          </a:effectLst>
        </p:spPr>
      </p:sp>
      <p:pic>
        <p:nvPicPr>
          <p:cNvPr id="10" name="Image 3" descr="preencoded.png">    </p:cNvPr>
          <p:cNvPicPr>
            <a:picLocks noChangeAspect="1"/>
          </p:cNvPicPr>
          <p:nvPr/>
        </p:nvPicPr>
        <p:blipFill>
          <a:blip r:embed="rId4"/>
          <a:stretch>
            <a:fillRect/>
          </a:stretch>
        </p:blipFill>
        <p:spPr>
          <a:xfrm>
            <a:off x="7315017" y="0"/>
            <a:ext cx="487667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YECHIM</a:t>
            </a:r>
            <a:endParaRPr lang="en-US" sz="1200" dirty="0"/>
          </a:p>
        </p:txBody>
      </p:sp>
      <p:sp>
        <p:nvSpPr>
          <p:cNvPr id="3" name="Text 1"/>
          <p:cNvSpPr/>
          <p:nvPr/>
        </p:nvSpPr>
        <p:spPr>
          <a:xfrm>
            <a:off x="457189" y="727075"/>
            <a:ext cx="11277318" cy="586680"/>
          </a:xfrm>
          <a:prstGeom prst="rect">
            <a:avLst/>
          </a:prstGeom>
          <a:noFill/>
          <a:ln/>
        </p:spPr>
        <p:txBody>
          <a:bodyPr wrap="none" lIns="0" tIns="0" rIns="0" bIns="0" rtlCol="0" anchor="t"/>
          <a:lstStyle/>
          <a:p>
            <a:pPr algn="l" indent="0" marL="0">
              <a:lnSpc>
                <a:spcPct val="87000"/>
              </a:lnSpc>
              <a:buNone/>
            </a:pPr>
            <a:r>
              <a:rPr lang="en-US" sz="4400" spc="-97" kern="100" dirty="0">
                <a:solidFill>
                  <a:srgbClr val="111214"/>
                </a:solidFill>
                <a:latin typeface="Manrope SemiBold" pitchFamily="34" charset="0"/>
                <a:ea typeface="Manrope SemiBold" pitchFamily="34" charset="-122"/>
                <a:cs typeface="Manrope SemiBold" pitchFamily="34" charset="-120"/>
              </a:rPr>
              <a:t>Bitta platforma — o‘rganishning to‘liq sikli</a:t>
            </a:r>
            <a:endParaRPr lang="en-US" sz="4400" dirty="0"/>
          </a:p>
        </p:txBody>
      </p:sp>
      <p:sp>
        <p:nvSpPr>
          <p:cNvPr id="4" name="Text 2"/>
          <p:cNvSpPr/>
          <p:nvPr/>
        </p:nvSpPr>
        <p:spPr>
          <a:xfrm>
            <a:off x="457189" y="1510605"/>
            <a:ext cx="11734506"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NeuraLearn Hub o‘quvchini tushunishdan natijagacha bir xil oqimda olib boradi.</a:t>
            </a:r>
            <a:endParaRPr lang="en-US" sz="1700" dirty="0"/>
          </a:p>
        </p:txBody>
      </p:sp>
      <p:sp>
        <p:nvSpPr>
          <p:cNvPr id="5" name="Shape 3"/>
          <p:cNvSpPr/>
          <p:nvPr/>
        </p:nvSpPr>
        <p:spPr>
          <a:xfrm>
            <a:off x="457189" y="2087860"/>
            <a:ext cx="2133547" cy="3253284"/>
          </a:xfrm>
          <a:prstGeom prst="rect">
            <a:avLst/>
          </a:prstGeom>
          <a:solidFill>
            <a:srgbClr val="FFFFFF"/>
          </a:solidFill>
          <a:ln w="6350">
            <a:solidFill>
              <a:srgbClr val="D8D9DE"/>
            </a:solidFill>
            <a:prstDash val="solid"/>
          </a:ln>
        </p:spPr>
      </p:sp>
      <p:sp>
        <p:nvSpPr>
          <p:cNvPr id="6" name="Shape 4"/>
          <p:cNvSpPr/>
          <p:nvPr/>
        </p:nvSpPr>
        <p:spPr>
          <a:xfrm>
            <a:off x="666733" y="2297410"/>
            <a:ext cx="457189" cy="457200"/>
          </a:xfrm>
          <a:prstGeom prst="ellipse">
            <a:avLst/>
          </a:prstGeom>
          <a:solidFill>
            <a:srgbClr val="E3E2F3"/>
          </a:solidFill>
          <a:ln w="12700">
            <a:solidFill>
              <a:srgbClr val="D2D2C8"/>
            </a:solidFill>
            <a:prstDash val="solid"/>
          </a:ln>
        </p:spPr>
      </p:sp>
      <p:sp>
        <p:nvSpPr>
          <p:cNvPr id="7" name="Text 5"/>
          <p:cNvSpPr/>
          <p:nvPr/>
        </p:nvSpPr>
        <p:spPr>
          <a:xfrm>
            <a:off x="757814" y="2399010"/>
            <a:ext cx="884612"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01</a:t>
            </a:r>
            <a:endParaRPr lang="en-US" sz="2000" dirty="0"/>
          </a:p>
        </p:txBody>
      </p:sp>
      <p:sp>
        <p:nvSpPr>
          <p:cNvPr id="8" name="Text 6"/>
          <p:cNvSpPr/>
          <p:nvPr/>
        </p:nvSpPr>
        <p:spPr>
          <a:xfrm>
            <a:off x="666733" y="2884091"/>
            <a:ext cx="1714457" cy="635000"/>
          </a:xfrm>
          <a:prstGeom prst="rect">
            <a:avLst/>
          </a:prstGeom>
          <a:noFill/>
          <a:ln/>
        </p:spPr>
        <p:txBody>
          <a:bodyPr wrap="square" lIns="0" tIns="0" rIns="0" bIns="0" rtlCol="0" anchor="t">
            <a:normAutofit/>
          </a:bodyPr>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Interaktiv mikro-dars</a:t>
            </a:r>
            <a:endParaRPr lang="en-US" sz="2000" dirty="0"/>
          </a:p>
        </p:txBody>
      </p:sp>
      <p:sp>
        <p:nvSpPr>
          <p:cNvPr id="9" name="Text 7"/>
          <p:cNvSpPr/>
          <p:nvPr/>
        </p:nvSpPr>
        <p:spPr>
          <a:xfrm>
            <a:off x="666733" y="3661966"/>
            <a:ext cx="1714457"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Mavzuni tushunish.</a:t>
            </a:r>
            <a:endParaRPr lang="en-US" sz="1700" dirty="0"/>
          </a:p>
        </p:txBody>
      </p:sp>
      <p:sp>
        <p:nvSpPr>
          <p:cNvPr id="10" name="Shape 8"/>
          <p:cNvSpPr/>
          <p:nvPr/>
        </p:nvSpPr>
        <p:spPr>
          <a:xfrm>
            <a:off x="2743032" y="2087860"/>
            <a:ext cx="2133646" cy="3253284"/>
          </a:xfrm>
          <a:prstGeom prst="rect">
            <a:avLst/>
          </a:prstGeom>
          <a:solidFill>
            <a:srgbClr val="FFFFFF"/>
          </a:solidFill>
          <a:ln w="6350">
            <a:solidFill>
              <a:srgbClr val="D8D9DE"/>
            </a:solidFill>
            <a:prstDash val="solid"/>
          </a:ln>
        </p:spPr>
      </p:sp>
      <p:sp>
        <p:nvSpPr>
          <p:cNvPr id="11" name="Shape 9"/>
          <p:cNvSpPr/>
          <p:nvPr/>
        </p:nvSpPr>
        <p:spPr>
          <a:xfrm>
            <a:off x="2952577" y="2297410"/>
            <a:ext cx="459173" cy="459184"/>
          </a:xfrm>
          <a:prstGeom prst="ellipse">
            <a:avLst/>
          </a:prstGeom>
          <a:solidFill>
            <a:srgbClr val="E3E2F3"/>
          </a:solidFill>
          <a:ln w="12700">
            <a:solidFill>
              <a:srgbClr val="D2D2C8"/>
            </a:solidFill>
            <a:prstDash val="solid"/>
          </a:ln>
        </p:spPr>
      </p:sp>
      <p:sp>
        <p:nvSpPr>
          <p:cNvPr id="12" name="Text 10"/>
          <p:cNvSpPr/>
          <p:nvPr/>
        </p:nvSpPr>
        <p:spPr>
          <a:xfrm>
            <a:off x="3019250" y="2400002"/>
            <a:ext cx="935411"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02</a:t>
            </a:r>
            <a:endParaRPr lang="en-US" sz="2000" dirty="0"/>
          </a:p>
        </p:txBody>
      </p:sp>
      <p:sp>
        <p:nvSpPr>
          <p:cNvPr id="13" name="Text 11"/>
          <p:cNvSpPr/>
          <p:nvPr/>
        </p:nvSpPr>
        <p:spPr>
          <a:xfrm>
            <a:off x="2952577" y="2886075"/>
            <a:ext cx="171455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Quiz</a:t>
            </a:r>
            <a:endParaRPr lang="en-US" sz="2000" dirty="0"/>
          </a:p>
        </p:txBody>
      </p:sp>
      <p:sp>
        <p:nvSpPr>
          <p:cNvPr id="14" name="Text 12"/>
          <p:cNvSpPr/>
          <p:nvPr/>
        </p:nvSpPr>
        <p:spPr>
          <a:xfrm>
            <a:off x="2952577" y="3346450"/>
            <a:ext cx="1714556"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Bilimni darhol tekshirish.</a:t>
            </a:r>
            <a:endParaRPr lang="en-US" sz="1700" dirty="0"/>
          </a:p>
        </p:txBody>
      </p:sp>
      <p:sp>
        <p:nvSpPr>
          <p:cNvPr id="15" name="Shape 13"/>
          <p:cNvSpPr/>
          <p:nvPr/>
        </p:nvSpPr>
        <p:spPr>
          <a:xfrm>
            <a:off x="5028975" y="2087860"/>
            <a:ext cx="2133646" cy="3253284"/>
          </a:xfrm>
          <a:prstGeom prst="rect">
            <a:avLst/>
          </a:prstGeom>
          <a:solidFill>
            <a:srgbClr val="FFFFFF"/>
          </a:solidFill>
          <a:ln w="6350">
            <a:solidFill>
              <a:srgbClr val="D8D9DE"/>
            </a:solidFill>
            <a:prstDash val="solid"/>
          </a:ln>
        </p:spPr>
      </p:sp>
      <p:sp>
        <p:nvSpPr>
          <p:cNvPr id="16" name="Shape 14"/>
          <p:cNvSpPr/>
          <p:nvPr/>
        </p:nvSpPr>
        <p:spPr>
          <a:xfrm>
            <a:off x="5238520" y="2297410"/>
            <a:ext cx="462546" cy="462558"/>
          </a:xfrm>
          <a:prstGeom prst="ellipse">
            <a:avLst/>
          </a:prstGeom>
          <a:solidFill>
            <a:srgbClr val="E3E2F3"/>
          </a:solidFill>
          <a:ln w="12700">
            <a:solidFill>
              <a:srgbClr val="D2D2C8"/>
            </a:solidFill>
            <a:prstDash val="solid"/>
          </a:ln>
        </p:spPr>
      </p:sp>
      <p:sp>
        <p:nvSpPr>
          <p:cNvPr id="17" name="Text 15"/>
          <p:cNvSpPr/>
          <p:nvPr/>
        </p:nvSpPr>
        <p:spPr>
          <a:xfrm>
            <a:off x="5305193" y="2401689"/>
            <a:ext cx="938784"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03</a:t>
            </a:r>
            <a:endParaRPr lang="en-US" sz="2000" dirty="0"/>
          </a:p>
        </p:txBody>
      </p:sp>
      <p:sp>
        <p:nvSpPr>
          <p:cNvPr id="18" name="Text 16"/>
          <p:cNvSpPr/>
          <p:nvPr/>
        </p:nvSpPr>
        <p:spPr>
          <a:xfrm>
            <a:off x="5238520" y="2889448"/>
            <a:ext cx="171455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AI yordam</a:t>
            </a:r>
            <a:endParaRPr lang="en-US" sz="2000" dirty="0"/>
          </a:p>
        </p:txBody>
      </p:sp>
      <p:sp>
        <p:nvSpPr>
          <p:cNvPr id="19" name="Text 17"/>
          <p:cNvSpPr/>
          <p:nvPr/>
        </p:nvSpPr>
        <p:spPr>
          <a:xfrm>
            <a:off x="5238520" y="3349823"/>
            <a:ext cx="1714556"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Darslarga tayangan AI izohi.</a:t>
            </a:r>
            <a:endParaRPr lang="en-US" sz="1700" dirty="0"/>
          </a:p>
        </p:txBody>
      </p:sp>
      <p:sp>
        <p:nvSpPr>
          <p:cNvPr id="20" name="Shape 18"/>
          <p:cNvSpPr/>
          <p:nvPr/>
        </p:nvSpPr>
        <p:spPr>
          <a:xfrm>
            <a:off x="7314918" y="2087860"/>
            <a:ext cx="2133646" cy="3253284"/>
          </a:xfrm>
          <a:prstGeom prst="rect">
            <a:avLst/>
          </a:prstGeom>
          <a:solidFill>
            <a:srgbClr val="FFFFFF"/>
          </a:solidFill>
          <a:ln w="6350">
            <a:solidFill>
              <a:srgbClr val="D8D9DE"/>
            </a:solidFill>
            <a:prstDash val="solid"/>
          </a:ln>
        </p:spPr>
      </p:sp>
      <p:sp>
        <p:nvSpPr>
          <p:cNvPr id="21" name="Shape 19"/>
          <p:cNvSpPr/>
          <p:nvPr/>
        </p:nvSpPr>
        <p:spPr>
          <a:xfrm>
            <a:off x="7524463" y="2297410"/>
            <a:ext cx="470087" cy="470098"/>
          </a:xfrm>
          <a:prstGeom prst="ellipse">
            <a:avLst/>
          </a:prstGeom>
          <a:solidFill>
            <a:srgbClr val="E3E2F3"/>
          </a:solidFill>
          <a:ln w="12700">
            <a:solidFill>
              <a:srgbClr val="D2D2C8"/>
            </a:solidFill>
            <a:prstDash val="solid"/>
          </a:ln>
        </p:spPr>
      </p:sp>
      <p:sp>
        <p:nvSpPr>
          <p:cNvPr id="22" name="Text 20"/>
          <p:cNvSpPr/>
          <p:nvPr/>
        </p:nvSpPr>
        <p:spPr>
          <a:xfrm>
            <a:off x="7591136" y="2405459"/>
            <a:ext cx="946325"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04</a:t>
            </a:r>
            <a:endParaRPr lang="en-US" sz="2000" dirty="0"/>
          </a:p>
        </p:txBody>
      </p:sp>
      <p:sp>
        <p:nvSpPr>
          <p:cNvPr id="23" name="Text 21"/>
          <p:cNvSpPr/>
          <p:nvPr/>
        </p:nvSpPr>
        <p:spPr>
          <a:xfrm>
            <a:off x="7524463" y="2896989"/>
            <a:ext cx="171455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Study Battle</a:t>
            </a:r>
            <a:endParaRPr lang="en-US" sz="2000" dirty="0"/>
          </a:p>
        </p:txBody>
      </p:sp>
      <p:sp>
        <p:nvSpPr>
          <p:cNvPr id="24" name="Text 22"/>
          <p:cNvSpPr/>
          <p:nvPr/>
        </p:nvSpPr>
        <p:spPr>
          <a:xfrm>
            <a:off x="7524463" y="3357364"/>
            <a:ext cx="1714556"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Motivatsiyani davom ettirish.</a:t>
            </a:r>
            <a:endParaRPr lang="en-US" sz="1700" dirty="0"/>
          </a:p>
        </p:txBody>
      </p:sp>
      <p:sp>
        <p:nvSpPr>
          <p:cNvPr id="25" name="Shape 23"/>
          <p:cNvSpPr/>
          <p:nvPr/>
        </p:nvSpPr>
        <p:spPr>
          <a:xfrm>
            <a:off x="9600861" y="2087860"/>
            <a:ext cx="2133646" cy="3253284"/>
          </a:xfrm>
          <a:prstGeom prst="roundRect">
            <a:avLst>
              <a:gd name="adj" fmla="val 10000"/>
            </a:avLst>
          </a:prstGeom>
          <a:solidFill>
            <a:srgbClr val="4F46E5"/>
          </a:solidFill>
          <a:ln w="6350">
            <a:solidFill>
              <a:srgbClr val="4F46E5"/>
            </a:solidFill>
            <a:prstDash val="solid"/>
          </a:ln>
          <a:effectLst>
            <a:outerShdw sx="100000" sy="100000" kx="0" ky="0" algn="bl" rotWithShape="0" blurRad="100330" dist="24130" dir="5400000">
              <a:srgbClr val="111214">
                <a:alpha val="1000"/>
              </a:srgbClr>
            </a:outerShdw>
          </a:effectLst>
        </p:spPr>
      </p:sp>
      <p:sp>
        <p:nvSpPr>
          <p:cNvPr id="26" name="Shape 24"/>
          <p:cNvSpPr/>
          <p:nvPr/>
        </p:nvSpPr>
        <p:spPr>
          <a:xfrm>
            <a:off x="9810405" y="2297410"/>
            <a:ext cx="457189" cy="457200"/>
          </a:xfrm>
          <a:prstGeom prst="ellipse">
            <a:avLst/>
          </a:prstGeom>
          <a:solidFill>
            <a:srgbClr val="FFFFFF">
              <a:alpha val="18000"/>
            </a:srgbClr>
          </a:solidFill>
          <a:ln w="12700">
            <a:solidFill>
              <a:srgbClr val="FFFFFF"/>
            </a:solidFill>
            <a:prstDash val="solid"/>
          </a:ln>
        </p:spPr>
      </p:sp>
      <p:sp>
        <p:nvSpPr>
          <p:cNvPr id="27" name="Text 25"/>
          <p:cNvSpPr/>
          <p:nvPr/>
        </p:nvSpPr>
        <p:spPr>
          <a:xfrm>
            <a:off x="9877376" y="2399010"/>
            <a:ext cx="932732" cy="254000"/>
          </a:xfrm>
          <a:prstGeom prst="rect">
            <a:avLst/>
          </a:prstGeom>
          <a:noFill/>
          <a:ln/>
        </p:spPr>
        <p:txBody>
          <a:bodyPr wrap="none" lIns="0" tIns="0" rIns="0" bIns="0" rtlCol="0" anchor="t"/>
          <a:lstStyle/>
          <a:p>
            <a:pPr algn="l" indent="0" marL="0">
              <a:lnSpc>
                <a:spcPct val="83000"/>
              </a:lnSpc>
              <a:buNone/>
            </a:pPr>
            <a:r>
              <a:rPr lang="en-US" sz="2000" dirty="0">
                <a:solidFill>
                  <a:srgbClr val="FFFFFF"/>
                </a:solidFill>
                <a:latin typeface="Inter SemiBold" pitchFamily="34" charset="0"/>
                <a:ea typeface="Inter SemiBold" pitchFamily="34" charset="-122"/>
                <a:cs typeface="Inter SemiBold" pitchFamily="34" charset="-120"/>
              </a:rPr>
              <a:t>05</a:t>
            </a:r>
            <a:endParaRPr lang="en-US" sz="2000" dirty="0"/>
          </a:p>
        </p:txBody>
      </p:sp>
      <p:sp>
        <p:nvSpPr>
          <p:cNvPr id="28" name="Text 26"/>
          <p:cNvSpPr/>
          <p:nvPr/>
        </p:nvSpPr>
        <p:spPr>
          <a:xfrm>
            <a:off x="9810405" y="2884091"/>
            <a:ext cx="171455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FFFFFF"/>
                </a:solidFill>
                <a:latin typeface="Inter SemiBold" pitchFamily="34" charset="0"/>
                <a:ea typeface="Inter SemiBold" pitchFamily="34" charset="-122"/>
                <a:cs typeface="Inter SemiBold" pitchFamily="34" charset="-120"/>
              </a:rPr>
              <a:t>Progress</a:t>
            </a:r>
            <a:endParaRPr lang="en-US" sz="2000" dirty="0"/>
          </a:p>
        </p:txBody>
      </p:sp>
      <p:sp>
        <p:nvSpPr>
          <p:cNvPr id="29" name="Text 27"/>
          <p:cNvSpPr/>
          <p:nvPr/>
        </p:nvSpPr>
        <p:spPr>
          <a:xfrm>
            <a:off x="9810405" y="3344466"/>
            <a:ext cx="1714556" cy="1787128"/>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nter" pitchFamily="34" charset="0"/>
                <a:ea typeface="Inter" pitchFamily="34" charset="-122"/>
                <a:cs typeface="Inter" pitchFamily="34" charset="-120"/>
              </a:rPr>
              <a:t>O‘qituvchi panelda progressni ko‘rib, keyingi qadamni belgilaydi.</a:t>
            </a:r>
            <a:endParaRPr lang="en-US" sz="1700" dirty="0"/>
          </a:p>
        </p:txBody>
      </p:sp>
      <p:sp>
        <p:nvSpPr>
          <p:cNvPr id="30" name="Shape 28"/>
          <p:cNvSpPr/>
          <p:nvPr/>
        </p:nvSpPr>
        <p:spPr>
          <a:xfrm>
            <a:off x="457189" y="5595144"/>
            <a:ext cx="11277318" cy="769541"/>
          </a:xfrm>
          <a:prstGeom prst="roundRect">
            <a:avLst>
              <a:gd name="adj" fmla="val 27725"/>
            </a:avLst>
          </a:prstGeom>
          <a:solidFill>
            <a:srgbClr val="EFEEFF"/>
          </a:solidFill>
          <a:ln w="6350">
            <a:solidFill>
              <a:srgbClr val="D8D9DE"/>
            </a:solidFill>
            <a:prstDash val="solid"/>
          </a:ln>
          <a:effectLst>
            <a:outerShdw sx="100000" sy="100000" kx="0" ky="0" algn="bl" rotWithShape="0" blurRad="100330" dist="24130" dir="5400000">
              <a:srgbClr val="111214">
                <a:alpha val="1000"/>
              </a:srgbClr>
            </a:outerShdw>
          </a:effectLst>
        </p:spPr>
      </p:sp>
      <p:sp>
        <p:nvSpPr>
          <p:cNvPr id="31" name="Text 29"/>
          <p:cNvSpPr/>
          <p:nvPr/>
        </p:nvSpPr>
        <p:spPr>
          <a:xfrm>
            <a:off x="717532" y="5804694"/>
            <a:ext cx="11016974" cy="350441"/>
          </a:xfrm>
          <a:prstGeom prst="rect">
            <a:avLst/>
          </a:prstGeom>
          <a:noFill/>
          <a:ln/>
        </p:spPr>
        <p:txBody>
          <a:bodyPr wrap="none" lIns="0" tIns="0" rIns="0" bIns="0" rtlCol="0" anchor="t"/>
          <a:lstStyle/>
          <a:p>
            <a:pPr algn="l" indent="0" marL="0">
              <a:lnSpc>
                <a:spcPct val="115000"/>
              </a:lnSpc>
              <a:buNone/>
            </a:pPr>
            <a:r>
              <a:rPr lang="en-US" sz="2000" b="1" dirty="0">
                <a:solidFill>
                  <a:srgbClr val="000000"/>
                </a:solidFill>
                <a:latin typeface="Inter Bold" pitchFamily="34" charset="0"/>
                <a:ea typeface="Inter Bold" pitchFamily="34" charset="-122"/>
                <a:cs typeface="Inter Bold" pitchFamily="34" charset="-120"/>
              </a:rPr>
              <a:t>Markazdagi natija:</a:t>
            </a:r>
            <a:pPr algn="l" indent="0" marL="0">
              <a:lnSpc>
                <a:spcPct val="115000"/>
              </a:lnSpc>
              <a:buNone/>
            </a:pPr>
            <a:r>
              <a:rPr lang="en-US" sz="2000" dirty="0">
                <a:solidFill>
                  <a:srgbClr val="000000"/>
                </a:solidFill>
                <a:latin typeface="Inter" pitchFamily="34" charset="0"/>
                <a:ea typeface="Inter" pitchFamily="34" charset="-122"/>
                <a:cs typeface="Inter" pitchFamily="34" charset="-120"/>
              </a:rPr>
              <a:t> o‘quvchi o‘z yo‘lini yo‘qotmaydi.</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254000"/>
            <a:ext cx="11734506"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NEURALEARN · PWA · MOBIL VA KOMPYUTERDA</a:t>
            </a:r>
            <a:endParaRPr lang="en-US" sz="1200" dirty="0"/>
          </a:p>
        </p:txBody>
      </p:sp>
      <p:sp>
        <p:nvSpPr>
          <p:cNvPr id="3" name="Text 1"/>
          <p:cNvSpPr/>
          <p:nvPr/>
        </p:nvSpPr>
        <p:spPr>
          <a:xfrm>
            <a:off x="457189" y="523875"/>
            <a:ext cx="11277318" cy="586680"/>
          </a:xfrm>
          <a:prstGeom prst="rect">
            <a:avLst/>
          </a:prstGeom>
          <a:noFill/>
          <a:ln/>
        </p:spPr>
        <p:txBody>
          <a:bodyPr wrap="none" lIns="0" tIns="0" rIns="0" bIns="0" rtlCol="0" anchor="t"/>
          <a:lstStyle/>
          <a:p>
            <a:pPr algn="l" indent="0" marL="0">
              <a:lnSpc>
                <a:spcPct val="87000"/>
              </a:lnSpc>
              <a:buNone/>
            </a:pPr>
            <a:r>
              <a:rPr lang="en-US" sz="4400" spc="-97" kern="100" dirty="0">
                <a:solidFill>
                  <a:srgbClr val="111214"/>
                </a:solidFill>
                <a:latin typeface="Manrope SemiBold" pitchFamily="34" charset="0"/>
                <a:ea typeface="Manrope SemiBold" pitchFamily="34" charset="-122"/>
                <a:cs typeface="Manrope SemiBold" pitchFamily="34" charset="-120"/>
              </a:rPr>
              <a:t>Killer flow: bir mavzu, besh uzluksiz qadam</a:t>
            </a:r>
            <a:endParaRPr lang="en-US" sz="4400" dirty="0"/>
          </a:p>
        </p:txBody>
      </p:sp>
      <p:sp>
        <p:nvSpPr>
          <p:cNvPr id="4" name="Shape 2"/>
          <p:cNvSpPr/>
          <p:nvPr/>
        </p:nvSpPr>
        <p:spPr>
          <a:xfrm>
            <a:off x="457189" y="1307405"/>
            <a:ext cx="457189" cy="457200"/>
          </a:xfrm>
          <a:prstGeom prst="ellipse">
            <a:avLst/>
          </a:prstGeom>
          <a:solidFill>
            <a:srgbClr val="E3E2F3"/>
          </a:solidFill>
          <a:ln w="12700">
            <a:solidFill>
              <a:srgbClr val="D2D2C8"/>
            </a:solidFill>
            <a:prstDash val="solid"/>
          </a:ln>
        </p:spPr>
      </p:sp>
      <p:sp>
        <p:nvSpPr>
          <p:cNvPr id="5" name="Text 3"/>
          <p:cNvSpPr/>
          <p:nvPr/>
        </p:nvSpPr>
        <p:spPr>
          <a:xfrm>
            <a:off x="548269" y="1409005"/>
            <a:ext cx="884612"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01</a:t>
            </a:r>
            <a:endParaRPr lang="en-US" sz="2000" dirty="0"/>
          </a:p>
        </p:txBody>
      </p:sp>
      <p:sp>
        <p:nvSpPr>
          <p:cNvPr id="6" name="Text 4"/>
          <p:cNvSpPr/>
          <p:nvPr/>
        </p:nvSpPr>
        <p:spPr>
          <a:xfrm>
            <a:off x="1066773" y="1377255"/>
            <a:ext cx="10667733"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Bugungi reja</a:t>
            </a:r>
            <a:endParaRPr lang="en-US" sz="2000" dirty="0"/>
          </a:p>
        </p:txBody>
      </p:sp>
      <p:sp>
        <p:nvSpPr>
          <p:cNvPr id="7" name="Text 5"/>
          <p:cNvSpPr/>
          <p:nvPr/>
        </p:nvSpPr>
        <p:spPr>
          <a:xfrm>
            <a:off x="1066773" y="1837630"/>
            <a:ext cx="10667733"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“Matematika — hosila tushunchasi”.</a:t>
            </a:r>
            <a:endParaRPr lang="en-US" sz="1700" dirty="0"/>
          </a:p>
        </p:txBody>
      </p:sp>
      <p:sp>
        <p:nvSpPr>
          <p:cNvPr id="8" name="Shape 6"/>
          <p:cNvSpPr/>
          <p:nvPr/>
        </p:nvSpPr>
        <p:spPr>
          <a:xfrm>
            <a:off x="457189" y="2287885"/>
            <a:ext cx="459173" cy="459184"/>
          </a:xfrm>
          <a:prstGeom prst="ellipse">
            <a:avLst/>
          </a:prstGeom>
          <a:solidFill>
            <a:srgbClr val="E3E2F3"/>
          </a:solidFill>
          <a:ln w="12700">
            <a:solidFill>
              <a:srgbClr val="D2D2C8"/>
            </a:solidFill>
            <a:prstDash val="solid"/>
          </a:ln>
        </p:spPr>
      </p:sp>
      <p:sp>
        <p:nvSpPr>
          <p:cNvPr id="9" name="Text 7"/>
          <p:cNvSpPr/>
          <p:nvPr/>
        </p:nvSpPr>
        <p:spPr>
          <a:xfrm>
            <a:off x="523862" y="2390477"/>
            <a:ext cx="935411"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02</a:t>
            </a:r>
            <a:endParaRPr lang="en-US" sz="2000" dirty="0"/>
          </a:p>
        </p:txBody>
      </p:sp>
      <p:sp>
        <p:nvSpPr>
          <p:cNvPr id="10" name="Text 8"/>
          <p:cNvSpPr/>
          <p:nvPr/>
        </p:nvSpPr>
        <p:spPr>
          <a:xfrm>
            <a:off x="1068758" y="2358727"/>
            <a:ext cx="10665749"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Interaktiv kartochkalar</a:t>
            </a:r>
            <a:endParaRPr lang="en-US" sz="2000" dirty="0"/>
          </a:p>
        </p:txBody>
      </p:sp>
      <p:sp>
        <p:nvSpPr>
          <p:cNvPr id="11" name="Text 9"/>
          <p:cNvSpPr/>
          <p:nvPr/>
        </p:nvSpPr>
        <p:spPr>
          <a:xfrm>
            <a:off x="1068758" y="2819102"/>
            <a:ext cx="10665749"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Suriladigan kartochkalarda qisqa va tushunarli nazariya.</a:t>
            </a:r>
            <a:endParaRPr lang="en-US" sz="1700" dirty="0"/>
          </a:p>
        </p:txBody>
      </p:sp>
      <p:sp>
        <p:nvSpPr>
          <p:cNvPr id="12" name="Shape 10"/>
          <p:cNvSpPr/>
          <p:nvPr/>
        </p:nvSpPr>
        <p:spPr>
          <a:xfrm>
            <a:off x="457189" y="3269357"/>
            <a:ext cx="462546" cy="462558"/>
          </a:xfrm>
          <a:prstGeom prst="ellipse">
            <a:avLst/>
          </a:prstGeom>
          <a:solidFill>
            <a:srgbClr val="E3E2F3"/>
          </a:solidFill>
          <a:ln w="12700">
            <a:solidFill>
              <a:srgbClr val="D2D2C8"/>
            </a:solidFill>
            <a:prstDash val="solid"/>
          </a:ln>
        </p:spPr>
      </p:sp>
      <p:sp>
        <p:nvSpPr>
          <p:cNvPr id="13" name="Text 11"/>
          <p:cNvSpPr/>
          <p:nvPr/>
        </p:nvSpPr>
        <p:spPr>
          <a:xfrm>
            <a:off x="523862" y="3373636"/>
            <a:ext cx="938784"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03</a:t>
            </a:r>
            <a:endParaRPr lang="en-US" sz="2000" dirty="0"/>
          </a:p>
        </p:txBody>
      </p:sp>
      <p:sp>
        <p:nvSpPr>
          <p:cNvPr id="14" name="Text 12"/>
          <p:cNvSpPr/>
          <p:nvPr/>
        </p:nvSpPr>
        <p:spPr>
          <a:xfrm>
            <a:off x="1072131" y="3341886"/>
            <a:ext cx="10662375"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Mini-o‘yin testi</a:t>
            </a:r>
            <a:endParaRPr lang="en-US" sz="2000" dirty="0"/>
          </a:p>
        </p:txBody>
      </p:sp>
      <p:sp>
        <p:nvSpPr>
          <p:cNvPr id="15" name="Text 13"/>
          <p:cNvSpPr/>
          <p:nvPr/>
        </p:nvSpPr>
        <p:spPr>
          <a:xfrm>
            <a:off x="1072131" y="3802261"/>
            <a:ext cx="10662375"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Kartochkalar tugashi bilan test.</a:t>
            </a:r>
            <a:endParaRPr lang="en-US" sz="1700" dirty="0"/>
          </a:p>
        </p:txBody>
      </p:sp>
      <p:sp>
        <p:nvSpPr>
          <p:cNvPr id="16" name="Shape 14"/>
          <p:cNvSpPr/>
          <p:nvPr/>
        </p:nvSpPr>
        <p:spPr>
          <a:xfrm>
            <a:off x="457189" y="4252516"/>
            <a:ext cx="470087" cy="470098"/>
          </a:xfrm>
          <a:prstGeom prst="ellipse">
            <a:avLst/>
          </a:prstGeom>
          <a:solidFill>
            <a:srgbClr val="E3E2F3"/>
          </a:solidFill>
          <a:ln w="12700">
            <a:solidFill>
              <a:srgbClr val="D2D2C8"/>
            </a:solidFill>
            <a:prstDash val="solid"/>
          </a:ln>
        </p:spPr>
      </p:sp>
      <p:sp>
        <p:nvSpPr>
          <p:cNvPr id="17" name="Text 15"/>
          <p:cNvSpPr/>
          <p:nvPr/>
        </p:nvSpPr>
        <p:spPr>
          <a:xfrm>
            <a:off x="523862" y="4360565"/>
            <a:ext cx="946325"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04</a:t>
            </a:r>
            <a:endParaRPr lang="en-US" sz="2000" dirty="0"/>
          </a:p>
        </p:txBody>
      </p:sp>
      <p:sp>
        <p:nvSpPr>
          <p:cNvPr id="18" name="Text 16"/>
          <p:cNvSpPr/>
          <p:nvPr/>
        </p:nvSpPr>
        <p:spPr>
          <a:xfrm>
            <a:off x="1079671" y="4328815"/>
            <a:ext cx="10654835"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AI Hint va Study Battle</a:t>
            </a:r>
            <a:endParaRPr lang="en-US" sz="2000" dirty="0"/>
          </a:p>
        </p:txBody>
      </p:sp>
      <p:sp>
        <p:nvSpPr>
          <p:cNvPr id="19" name="Text 17"/>
          <p:cNvSpPr/>
          <p:nvPr/>
        </p:nvSpPr>
        <p:spPr>
          <a:xfrm>
            <a:off x="1079671" y="4789190"/>
            <a:ext cx="10654835"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Xato bo‘lsa, AI Hint to‘g‘ri yo‘lni ko‘rsatadi; keyin Study Battle taklifi chiqadi.</a:t>
            </a:r>
            <a:endParaRPr lang="en-US" sz="1700" dirty="0"/>
          </a:p>
        </p:txBody>
      </p:sp>
      <p:sp>
        <p:nvSpPr>
          <p:cNvPr id="20" name="Shape 18"/>
          <p:cNvSpPr/>
          <p:nvPr/>
        </p:nvSpPr>
        <p:spPr>
          <a:xfrm>
            <a:off x="457189" y="5239445"/>
            <a:ext cx="457189" cy="457200"/>
          </a:xfrm>
          <a:prstGeom prst="ellipse">
            <a:avLst/>
          </a:prstGeom>
          <a:solidFill>
            <a:srgbClr val="E3E2F3"/>
          </a:solidFill>
          <a:ln w="12700">
            <a:solidFill>
              <a:srgbClr val="D2D2C8"/>
            </a:solidFill>
            <a:prstDash val="solid"/>
          </a:ln>
        </p:spPr>
      </p:sp>
      <p:sp>
        <p:nvSpPr>
          <p:cNvPr id="21" name="Text 19"/>
          <p:cNvSpPr/>
          <p:nvPr/>
        </p:nvSpPr>
        <p:spPr>
          <a:xfrm>
            <a:off x="524160" y="5341045"/>
            <a:ext cx="932732" cy="254000"/>
          </a:xfrm>
          <a:prstGeom prst="rect">
            <a:avLst/>
          </a:prstGeom>
          <a:noFill/>
          <a:ln/>
        </p:spPr>
        <p:txBody>
          <a:bodyPr wrap="none" lIns="0" tIns="0" rIns="0" bIns="0" rtlCol="0" anchor="t"/>
          <a:lstStyle/>
          <a:p>
            <a:pPr algn="l" indent="0" marL="0">
              <a:lnSpc>
                <a:spcPct val="83000"/>
              </a:lnSpc>
              <a:buNone/>
            </a:pPr>
            <a:r>
              <a:rPr lang="en-US" sz="2000" dirty="0">
                <a:solidFill>
                  <a:srgbClr val="4F46E5"/>
                </a:solidFill>
                <a:latin typeface="Inter SemiBold" pitchFamily="34" charset="0"/>
                <a:ea typeface="Inter SemiBold" pitchFamily="34" charset="-122"/>
                <a:cs typeface="Inter SemiBold" pitchFamily="34" charset="-120"/>
              </a:rPr>
              <a:t>05</a:t>
            </a:r>
            <a:endParaRPr lang="en-US" sz="2000" dirty="0"/>
          </a:p>
        </p:txBody>
      </p:sp>
      <p:sp>
        <p:nvSpPr>
          <p:cNvPr id="22" name="Text 20"/>
          <p:cNvSpPr/>
          <p:nvPr/>
        </p:nvSpPr>
        <p:spPr>
          <a:xfrm>
            <a:off x="1066773" y="5309295"/>
            <a:ext cx="10667733"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Sinf progressi</a:t>
            </a:r>
            <a:endParaRPr lang="en-US" sz="2000" dirty="0"/>
          </a:p>
        </p:txBody>
      </p:sp>
      <p:sp>
        <p:nvSpPr>
          <p:cNvPr id="23" name="Text 21"/>
          <p:cNvSpPr/>
          <p:nvPr/>
        </p:nvSpPr>
        <p:spPr>
          <a:xfrm>
            <a:off x="1066773" y="5769670"/>
            <a:ext cx="10667733"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O‘qituvchi sinf progressini bitta grafikda ko‘radi.</a:t>
            </a:r>
            <a:endParaRPr lang="en-US" sz="1700" dirty="0"/>
          </a:p>
        </p:txBody>
      </p:sp>
      <p:sp>
        <p:nvSpPr>
          <p:cNvPr id="24" name="Text 22"/>
          <p:cNvSpPr/>
          <p:nvPr/>
        </p:nvSpPr>
        <p:spPr>
          <a:xfrm>
            <a:off x="457189" y="6245324"/>
            <a:ext cx="11734506"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Oqim ilovadan chiqmasdan, tushunishdan natijagacha davom etadi.</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673483" cy="6858000"/>
          </a:xfrm>
          <a:prstGeom prst="roundRect">
            <a:avLst>
              <a:gd name="adj" fmla="val 4565"/>
            </a:avLst>
          </a:prstGeom>
          <a:solidFill>
            <a:srgbClr val="4F46E5"/>
          </a:solidFill>
          <a:ln/>
          <a:effectLst>
            <a:outerShdw sx="100000" sy="100000" kx="0" ky="0" algn="bl" rotWithShape="0" blurRad="100330" dist="24130" dir="5400000">
              <a:srgbClr val="111214">
                <a:alpha val="1000"/>
              </a:srgbClr>
            </a:outerShdw>
          </a:effectLst>
        </p:spPr>
      </p:sp>
      <p:sp>
        <p:nvSpPr>
          <p:cNvPr id="3" name="Text 1"/>
          <p:cNvSpPr/>
          <p:nvPr/>
        </p:nvSpPr>
        <p:spPr>
          <a:xfrm>
            <a:off x="457189" y="1929011"/>
            <a:ext cx="4216295"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FFFFFF"/>
                </a:solidFill>
                <a:latin typeface="Inter SemiBold" pitchFamily="34" charset="0"/>
                <a:ea typeface="Inter SemiBold" pitchFamily="34" charset="-122"/>
                <a:cs typeface="Inter SemiBold" pitchFamily="34" charset="-120"/>
              </a:rPr>
              <a:t>AI YORDAMCHI</a:t>
            </a:r>
            <a:endParaRPr lang="en-US" sz="1200" dirty="0"/>
          </a:p>
        </p:txBody>
      </p:sp>
      <p:sp>
        <p:nvSpPr>
          <p:cNvPr id="4" name="Text 2"/>
          <p:cNvSpPr/>
          <p:nvPr/>
        </p:nvSpPr>
        <p:spPr>
          <a:xfrm>
            <a:off x="457189" y="2198886"/>
            <a:ext cx="3759106" cy="3111500"/>
          </a:xfrm>
          <a:prstGeom prst="rect">
            <a:avLst/>
          </a:prstGeom>
          <a:noFill/>
          <a:ln/>
        </p:spPr>
        <p:txBody>
          <a:bodyPr wrap="square" lIns="0" tIns="0" rIns="0" bIns="0" rtlCol="0" anchor="t">
            <a:normAutofit/>
          </a:bodyPr>
          <a:lstStyle/>
          <a:p>
            <a:pPr algn="l" indent="0" marL="0">
              <a:lnSpc>
                <a:spcPct val="82000"/>
              </a:lnSpc>
              <a:buNone/>
            </a:pPr>
            <a:r>
              <a:rPr lang="en-US" sz="5000" b="1" spc="-175" kern="100" dirty="0">
                <a:solidFill>
                  <a:srgbClr val="FFFFFF"/>
                </a:solidFill>
                <a:latin typeface="Manrope Bold" pitchFamily="34" charset="0"/>
                <a:ea typeface="Manrope Bold" pitchFamily="34" charset="-122"/>
                <a:cs typeface="Manrope Bold" pitchFamily="34" charset="-120"/>
              </a:rPr>
              <a:t>Javob berishdan ko‘ra, tushuntirish muhim.</a:t>
            </a:r>
            <a:endParaRPr lang="en-US" sz="5000" dirty="0"/>
          </a:p>
        </p:txBody>
      </p:sp>
      <p:sp>
        <p:nvSpPr>
          <p:cNvPr id="5" name="Text 3"/>
          <p:cNvSpPr/>
          <p:nvPr/>
        </p:nvSpPr>
        <p:spPr>
          <a:xfrm>
            <a:off x="457189" y="5507236"/>
            <a:ext cx="3759106"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nter" pitchFamily="34" charset="0"/>
                <a:ea typeface="Inter" pitchFamily="34" charset="-122"/>
                <a:cs typeface="Inter" pitchFamily="34" charset="-120"/>
              </a:rPr>
              <a:t>AI alohida sehrli chatbot emas. U o‘quv mazmuniga xizmat qiladigan ishonchli qatlam.</a:t>
            </a:r>
            <a:endParaRPr lang="en-US" sz="1700" dirty="0"/>
          </a:p>
        </p:txBody>
      </p:sp>
      <p:sp>
        <p:nvSpPr>
          <p:cNvPr id="6" name="Text 4"/>
          <p:cNvSpPr/>
          <p:nvPr/>
        </p:nvSpPr>
        <p:spPr>
          <a:xfrm>
            <a:off x="5130672" y="457200"/>
            <a:ext cx="7061023"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GROUNDING ARXITEKTURASI</a:t>
            </a:r>
            <a:endParaRPr lang="en-US" sz="1200" dirty="0"/>
          </a:p>
        </p:txBody>
      </p:sp>
      <p:sp>
        <p:nvSpPr>
          <p:cNvPr id="7" name="Text 5"/>
          <p:cNvSpPr/>
          <p:nvPr/>
        </p:nvSpPr>
        <p:spPr>
          <a:xfrm>
            <a:off x="5130672" y="727075"/>
            <a:ext cx="6603835" cy="906661"/>
          </a:xfrm>
          <a:prstGeom prst="rect">
            <a:avLst/>
          </a:prstGeom>
          <a:noFill/>
          <a:ln/>
        </p:spPr>
        <p:txBody>
          <a:bodyPr wrap="square" lIns="0" tIns="0" rIns="0" bIns="0" rtlCol="0" anchor="t">
            <a:normAutofit/>
          </a:bodyPr>
          <a:lstStyle/>
          <a:p>
            <a:pPr algn="l" indent="0" marL="0">
              <a:lnSpc>
                <a:spcPct val="88000"/>
              </a:lnSpc>
              <a:buNone/>
            </a:pPr>
            <a:r>
              <a:rPr lang="en-US" sz="3400" spc="-75" kern="100" dirty="0">
                <a:solidFill>
                  <a:srgbClr val="111214"/>
                </a:solidFill>
                <a:latin typeface="Manrope SemiBold" pitchFamily="34" charset="0"/>
                <a:ea typeface="Manrope SemiBold" pitchFamily="34" charset="-122"/>
                <a:cs typeface="Manrope SemiBold" pitchFamily="34" charset="-120"/>
              </a:rPr>
              <a:t>AI yordam dars kontekstidan uzilmaydi</a:t>
            </a:r>
            <a:endParaRPr lang="en-US" sz="3400" dirty="0"/>
          </a:p>
        </p:txBody>
      </p:sp>
      <p:pic>
        <p:nvPicPr>
          <p:cNvPr id="8" name="Image 0" descr="preencoded.png">    </p:cNvPr>
          <p:cNvPicPr>
            <a:picLocks noChangeAspect="1"/>
          </p:cNvPicPr>
          <p:nvPr/>
        </p:nvPicPr>
        <p:blipFill>
          <a:blip r:embed="rId1"/>
          <a:stretch>
            <a:fillRect/>
          </a:stretch>
        </p:blipFill>
        <p:spPr>
          <a:xfrm>
            <a:off x="5130672" y="1811536"/>
            <a:ext cx="6603835" cy="3022302"/>
          </a:xfrm>
          <a:prstGeom prst="rect">
            <a:avLst/>
          </a:prstGeom>
        </p:spPr>
      </p:pic>
      <p:sp>
        <p:nvSpPr>
          <p:cNvPr id="9" name="Text 6"/>
          <p:cNvSpPr/>
          <p:nvPr/>
        </p:nvSpPr>
        <p:spPr>
          <a:xfrm>
            <a:off x="9967420" y="3700335"/>
            <a:ext cx="1612425" cy="220132"/>
          </a:xfrm>
          <a:prstGeom prst="rect">
            <a:avLst/>
          </a:prstGeom>
          <a:noFill/>
          <a:ln/>
        </p:spPr>
        <p:txBody>
          <a:bodyPr wrap="none" lIns="0" tIns="0" rIns="0" bIns="0" rtlCol="0" anchor="t"/>
          <a:lstStyle/>
          <a:p>
            <a:pPr algn="l" indent="0" marL="0">
              <a:lnSpc>
                <a:spcPct val="104000"/>
              </a:lnSpc>
              <a:buNone/>
            </a:pPr>
            <a:r>
              <a:rPr lang="en-US" sz="1400" spc="-31" kern="100" dirty="0">
                <a:solidFill>
                  <a:srgbClr val="111214"/>
                </a:solidFill>
                <a:latin typeface="Manrope SemiBold" pitchFamily="34" charset="0"/>
                <a:ea typeface="Manrope SemiBold" pitchFamily="34" charset="-122"/>
                <a:cs typeface="Manrope SemiBold" pitchFamily="34" charset="-120"/>
              </a:rPr>
              <a:t>AI Tutor</a:t>
            </a:r>
            <a:endParaRPr lang="en-US" sz="1400" dirty="0"/>
          </a:p>
        </p:txBody>
      </p:sp>
      <p:sp>
        <p:nvSpPr>
          <p:cNvPr id="10" name="Text 7"/>
          <p:cNvSpPr/>
          <p:nvPr/>
        </p:nvSpPr>
        <p:spPr>
          <a:xfrm>
            <a:off x="9967420" y="3990565"/>
            <a:ext cx="1612425" cy="161246"/>
          </a:xfrm>
          <a:prstGeom prst="rect">
            <a:avLst/>
          </a:prstGeom>
          <a:noFill/>
          <a:ln/>
        </p:spPr>
        <p:txBody>
          <a:bodyPr wrap="none" lIns="0" tIns="0" rIns="0" bIns="0" rtlCol="0" anchor="t"/>
          <a:lstStyle/>
          <a:p>
            <a:pPr algn="l" indent="0" marL="0">
              <a:lnSpc>
                <a:spcPct val="115000"/>
              </a:lnSpc>
              <a:buNone/>
            </a:pPr>
            <a:r>
              <a:rPr lang="en-US" sz="900" dirty="0">
                <a:solidFill>
                  <a:srgbClr val="111214"/>
                </a:solidFill>
                <a:latin typeface="Inter" pitchFamily="34" charset="0"/>
                <a:ea typeface="Inter" pitchFamily="34" charset="-122"/>
                <a:cs typeface="Inter" pitchFamily="34" charset="-120"/>
              </a:rPr>
              <a:t>Markaziy o'quv yordamchisi</a:t>
            </a:r>
            <a:endParaRPr lang="en-US" sz="900" dirty="0"/>
          </a:p>
        </p:txBody>
      </p:sp>
      <p:sp>
        <p:nvSpPr>
          <p:cNvPr id="11" name="Text 8"/>
          <p:cNvSpPr/>
          <p:nvPr/>
        </p:nvSpPr>
        <p:spPr>
          <a:xfrm>
            <a:off x="5285334" y="3111208"/>
            <a:ext cx="1480349" cy="220132"/>
          </a:xfrm>
          <a:prstGeom prst="rect">
            <a:avLst/>
          </a:prstGeom>
          <a:noFill/>
          <a:ln/>
        </p:spPr>
        <p:txBody>
          <a:bodyPr wrap="none" lIns="0" tIns="0" rIns="0" bIns="0" rtlCol="0" anchor="t"/>
          <a:lstStyle/>
          <a:p>
            <a:pPr algn="r" indent="0" marL="0">
              <a:lnSpc>
                <a:spcPct val="104000"/>
              </a:lnSpc>
              <a:buNone/>
            </a:pPr>
            <a:r>
              <a:rPr lang="en-US" sz="1400" spc="-31" kern="100" dirty="0">
                <a:solidFill>
                  <a:srgbClr val="111214"/>
                </a:solidFill>
                <a:latin typeface="Manrope SemiBold" pitchFamily="34" charset="0"/>
                <a:ea typeface="Manrope SemiBold" pitchFamily="34" charset="-122"/>
                <a:cs typeface="Manrope SemiBold" pitchFamily="34" charset="-120"/>
              </a:rPr>
              <a:t>Hub elementi</a:t>
            </a:r>
            <a:endParaRPr lang="en-US" sz="1400" dirty="0"/>
          </a:p>
        </p:txBody>
      </p:sp>
      <p:sp>
        <p:nvSpPr>
          <p:cNvPr id="12" name="Text 9"/>
          <p:cNvSpPr/>
          <p:nvPr/>
        </p:nvSpPr>
        <p:spPr>
          <a:xfrm>
            <a:off x="5285334" y="3401438"/>
            <a:ext cx="1480349" cy="322493"/>
          </a:xfrm>
          <a:prstGeom prst="rect">
            <a:avLst/>
          </a:prstGeom>
          <a:noFill/>
          <a:ln/>
        </p:spPr>
        <p:txBody>
          <a:bodyPr wrap="square" lIns="0" tIns="0" rIns="0" bIns="0" rtlCol="0" anchor="t">
            <a:normAutofit/>
          </a:bodyPr>
          <a:lstStyle/>
          <a:p>
            <a:pPr algn="r" indent="0" marL="0">
              <a:lnSpc>
                <a:spcPct val="115000"/>
              </a:lnSpc>
              <a:buNone/>
            </a:pPr>
            <a:r>
              <a:rPr lang="en-US" sz="900" dirty="0">
                <a:solidFill>
                  <a:srgbClr val="111214"/>
                </a:solidFill>
                <a:latin typeface="Inter" pitchFamily="34" charset="0"/>
                <a:ea typeface="Inter" pitchFamily="34" charset="-122"/>
                <a:cs typeface="Inter" pitchFamily="34" charset="-120"/>
              </a:rPr>
              <a:t>To'g'rilangan dars konteksti va resurslar</a:t>
            </a:r>
            <a:endParaRPr lang="en-US" sz="900" dirty="0"/>
          </a:p>
        </p:txBody>
      </p:sp>
      <p:sp>
        <p:nvSpPr>
          <p:cNvPr id="13" name="Text 10"/>
          <p:cNvSpPr/>
          <p:nvPr/>
        </p:nvSpPr>
        <p:spPr>
          <a:xfrm>
            <a:off x="9967420" y="1893879"/>
            <a:ext cx="1612425" cy="660395"/>
          </a:xfrm>
          <a:prstGeom prst="rect">
            <a:avLst/>
          </a:prstGeom>
          <a:noFill/>
          <a:ln/>
        </p:spPr>
        <p:txBody>
          <a:bodyPr wrap="square" lIns="0" tIns="0" rIns="0" bIns="0" rtlCol="0" anchor="t">
            <a:normAutofit/>
          </a:bodyPr>
          <a:lstStyle/>
          <a:p>
            <a:pPr algn="l" indent="0" marL="0">
              <a:lnSpc>
                <a:spcPct val="104000"/>
              </a:lnSpc>
              <a:buNone/>
            </a:pPr>
            <a:r>
              <a:rPr lang="en-US" sz="1400" spc="-31" kern="100" dirty="0">
                <a:solidFill>
                  <a:srgbClr val="111214"/>
                </a:solidFill>
                <a:latin typeface="Manrope SemiBold" pitchFamily="34" charset="0"/>
                <a:ea typeface="Manrope SemiBold" pitchFamily="34" charset="-122"/>
                <a:cs typeface="Manrope SemiBold" pitchFamily="34" charset="-120"/>
              </a:rPr>
              <a:t>Qo'llab-quvvatlovchi qatlam</a:t>
            </a:r>
            <a:endParaRPr lang="en-US" sz="1400" dirty="0"/>
          </a:p>
        </p:txBody>
      </p:sp>
      <p:sp>
        <p:nvSpPr>
          <p:cNvPr id="14" name="Text 11"/>
          <p:cNvSpPr/>
          <p:nvPr/>
        </p:nvSpPr>
        <p:spPr>
          <a:xfrm>
            <a:off x="9967420" y="2624372"/>
            <a:ext cx="1612425" cy="322493"/>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111214"/>
                </a:solidFill>
                <a:latin typeface="Inter" pitchFamily="34" charset="0"/>
                <a:ea typeface="Inter" pitchFamily="34" charset="-122"/>
                <a:cs typeface="Inter" pitchFamily="34" charset="-120"/>
              </a:rPr>
              <a:t>O'qituvchi va tashkilot nazorati</a:t>
            </a:r>
            <a:endParaRPr lang="en-US" sz="900" dirty="0"/>
          </a:p>
        </p:txBody>
      </p:sp>
      <p:sp>
        <p:nvSpPr>
          <p:cNvPr id="15" name="Text 12"/>
          <p:cNvSpPr/>
          <p:nvPr/>
        </p:nvSpPr>
        <p:spPr>
          <a:xfrm>
            <a:off x="5130672" y="4913213"/>
            <a:ext cx="6603835" cy="445691"/>
          </a:xfrm>
          <a:prstGeom prst="rect">
            <a:avLst/>
          </a:prstGeom>
          <a:noFill/>
          <a:ln/>
        </p:spPr>
        <p:txBody>
          <a:bodyPr wrap="square" lIns="0" tIns="0" rIns="0" bIns="0" rtlCol="0" anchor="t">
            <a:normAutofit/>
          </a:bodyPr>
          <a:lstStyle/>
          <a:p>
            <a:pPr algn="l" indent="0" marL="0">
              <a:lnSpc>
                <a:spcPct val="113000"/>
              </a:lnSpc>
              <a:buNone/>
            </a:pPr>
            <a:r>
              <a:rPr lang="en-US" sz="1300" spc="13" kern="100" dirty="0">
                <a:solidFill>
                  <a:srgbClr val="5B5E66"/>
                </a:solidFill>
                <a:latin typeface="Inter" pitchFamily="34" charset="0"/>
                <a:ea typeface="Inter" pitchFamily="34" charset="-122"/>
                <a:cs typeface="Inter" pitchFamily="34" charset="-120"/>
              </a:rPr>
              <a:t>O‘quvchi misol, soddaroq izoh yoki Hint so‘rashi mumkin. O‘qituvchi va tashkilot kontent ustidan nazoratni saqlab qoladi.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7670608"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O‘QITUVCHI PANELI</a:t>
            </a:r>
            <a:endParaRPr lang="en-US" sz="1200" dirty="0"/>
          </a:p>
        </p:txBody>
      </p:sp>
      <p:sp>
        <p:nvSpPr>
          <p:cNvPr id="3" name="Text 1"/>
          <p:cNvSpPr/>
          <p:nvPr/>
        </p:nvSpPr>
        <p:spPr>
          <a:xfrm>
            <a:off x="457189" y="727075"/>
            <a:ext cx="7213420" cy="906661"/>
          </a:xfrm>
          <a:prstGeom prst="rect">
            <a:avLst/>
          </a:prstGeom>
          <a:noFill/>
          <a:ln/>
        </p:spPr>
        <p:txBody>
          <a:bodyPr wrap="square" lIns="0" tIns="0" rIns="0" bIns="0" rtlCol="0" anchor="t">
            <a:normAutofit/>
          </a:bodyPr>
          <a:lstStyle/>
          <a:p>
            <a:pPr algn="l" indent="0" marL="0">
              <a:lnSpc>
                <a:spcPct val="88000"/>
              </a:lnSpc>
              <a:buNone/>
            </a:pPr>
            <a:r>
              <a:rPr lang="en-US" sz="3400" spc="-75" kern="100" dirty="0">
                <a:solidFill>
                  <a:srgbClr val="111214"/>
                </a:solidFill>
                <a:latin typeface="Manrope SemiBold" pitchFamily="34" charset="0"/>
                <a:ea typeface="Manrope SemiBold" pitchFamily="34" charset="-122"/>
                <a:cs typeface="Manrope SemiBold" pitchFamily="34" charset="-120"/>
              </a:rPr>
              <a:t>O‘qituvchi taxmin bilan emas, ko‘rinadigan progress bilan ishlaydi</a:t>
            </a:r>
            <a:endParaRPr lang="en-US" sz="3400" dirty="0"/>
          </a:p>
        </p:txBody>
      </p:sp>
      <p:sp>
        <p:nvSpPr>
          <p:cNvPr id="4" name="Shape 2"/>
          <p:cNvSpPr/>
          <p:nvPr/>
        </p:nvSpPr>
        <p:spPr>
          <a:xfrm>
            <a:off x="457189" y="1830586"/>
            <a:ext cx="603235" cy="603250"/>
          </a:xfrm>
          <a:prstGeom prst="ellipse">
            <a:avLst/>
          </a:prstGeom>
          <a:solidFill>
            <a:srgbClr val="E3E2F3"/>
          </a:solidFill>
          <a:ln w="12700">
            <a:solidFill>
              <a:srgbClr val="D2D2C8"/>
            </a:solidFill>
            <a:prstDash val="solid"/>
          </a:ln>
        </p:spPr>
      </p:sp>
      <p:pic>
        <p:nvPicPr>
          <p:cNvPr id="5" name="Image 0" descr="preencoded.png">    </p:cNvPr>
          <p:cNvPicPr>
            <a:picLocks noChangeAspect="1"/>
          </p:cNvPicPr>
          <p:nvPr/>
        </p:nvPicPr>
        <p:blipFill>
          <a:blip r:embed="rId1"/>
          <a:stretch>
            <a:fillRect/>
          </a:stretch>
        </p:blipFill>
        <p:spPr>
          <a:xfrm>
            <a:off x="631809" y="2005211"/>
            <a:ext cx="253994" cy="254000"/>
          </a:xfrm>
          <a:prstGeom prst="rect">
            <a:avLst/>
          </a:prstGeom>
        </p:spPr>
      </p:pic>
      <p:sp>
        <p:nvSpPr>
          <p:cNvPr id="6" name="Text 3"/>
          <p:cNvSpPr/>
          <p:nvPr/>
        </p:nvSpPr>
        <p:spPr>
          <a:xfrm>
            <a:off x="457189" y="2586236"/>
            <a:ext cx="7213420" cy="297855"/>
          </a:xfrm>
          <a:prstGeom prst="rect">
            <a:avLst/>
          </a:prstGeom>
          <a:noFill/>
          <a:ln/>
        </p:spPr>
        <p:txBody>
          <a:bodyPr wrap="none" lIns="0" tIns="0" rIns="0" bIns="0" rtlCol="0" anchor="t"/>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Mavzular o‘zlashtirilishi va xato ko‘paygan savollar ko‘rinadi.</a:t>
            </a:r>
            <a:endParaRPr lang="en-US" sz="1700" dirty="0"/>
          </a:p>
        </p:txBody>
      </p:sp>
      <p:sp>
        <p:nvSpPr>
          <p:cNvPr id="7" name="Shape 4"/>
          <p:cNvSpPr/>
          <p:nvPr/>
        </p:nvSpPr>
        <p:spPr>
          <a:xfrm>
            <a:off x="457189" y="3036491"/>
            <a:ext cx="603235" cy="603250"/>
          </a:xfrm>
          <a:prstGeom prst="ellipse">
            <a:avLst/>
          </a:prstGeom>
          <a:solidFill>
            <a:srgbClr val="E3E2F3"/>
          </a:solidFill>
          <a:ln w="12700">
            <a:solidFill>
              <a:srgbClr val="D2D2C8"/>
            </a:solidFill>
            <a:prstDash val="solid"/>
          </a:ln>
        </p:spPr>
      </p:sp>
      <p:pic>
        <p:nvPicPr>
          <p:cNvPr id="8" name="Image 1" descr="preencoded.png">    </p:cNvPr>
          <p:cNvPicPr>
            <a:picLocks noChangeAspect="1"/>
          </p:cNvPicPr>
          <p:nvPr/>
        </p:nvPicPr>
        <p:blipFill>
          <a:blip r:embed="rId2"/>
          <a:stretch>
            <a:fillRect/>
          </a:stretch>
        </p:blipFill>
        <p:spPr>
          <a:xfrm>
            <a:off x="631809" y="3211116"/>
            <a:ext cx="253994" cy="254000"/>
          </a:xfrm>
          <a:prstGeom prst="rect">
            <a:avLst/>
          </a:prstGeom>
        </p:spPr>
      </p:pic>
      <p:sp>
        <p:nvSpPr>
          <p:cNvPr id="9" name="Text 5"/>
          <p:cNvSpPr/>
          <p:nvPr/>
        </p:nvSpPr>
        <p:spPr>
          <a:xfrm>
            <a:off x="457189" y="3792141"/>
            <a:ext cx="7213420"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Faollik, quiz natijalari va mavzuga sarflangan vaqt yagona bazada jamlanadi.</a:t>
            </a:r>
            <a:endParaRPr lang="en-US" sz="1700" dirty="0"/>
          </a:p>
        </p:txBody>
      </p:sp>
      <p:sp>
        <p:nvSpPr>
          <p:cNvPr id="10" name="Shape 6"/>
          <p:cNvSpPr/>
          <p:nvPr/>
        </p:nvSpPr>
        <p:spPr>
          <a:xfrm>
            <a:off x="457189" y="4540250"/>
            <a:ext cx="603235" cy="603250"/>
          </a:xfrm>
          <a:prstGeom prst="ellipse">
            <a:avLst/>
          </a:prstGeom>
          <a:solidFill>
            <a:srgbClr val="E3E2F3"/>
          </a:solidFill>
          <a:ln w="12700">
            <a:solidFill>
              <a:srgbClr val="D2D2C8"/>
            </a:solidFill>
            <a:prstDash val="solid"/>
          </a:ln>
        </p:spPr>
      </p:sp>
      <p:pic>
        <p:nvPicPr>
          <p:cNvPr id="11" name="Image 2" descr="preencoded.png">    </p:cNvPr>
          <p:cNvPicPr>
            <a:picLocks noChangeAspect="1"/>
          </p:cNvPicPr>
          <p:nvPr/>
        </p:nvPicPr>
        <p:blipFill>
          <a:blip r:embed="rId3"/>
          <a:stretch>
            <a:fillRect/>
          </a:stretch>
        </p:blipFill>
        <p:spPr>
          <a:xfrm>
            <a:off x="631809" y="4714875"/>
            <a:ext cx="253994" cy="254000"/>
          </a:xfrm>
          <a:prstGeom prst="rect">
            <a:avLst/>
          </a:prstGeom>
        </p:spPr>
      </p:pic>
      <p:sp>
        <p:nvSpPr>
          <p:cNvPr id="12" name="Text 7"/>
          <p:cNvSpPr/>
          <p:nvPr/>
        </p:nvSpPr>
        <p:spPr>
          <a:xfrm>
            <a:off x="457189" y="5295900"/>
            <a:ext cx="7213420"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O‘qituvchi qo‘shimcha tushuntirishni aniq muammoga moslaydi. PWA kompyuterda ham, telefonda ham uzluksiz ishlashga mo‘ljallanadi.</a:t>
            </a:r>
            <a:endParaRPr lang="en-US" sz="1700" dirty="0"/>
          </a:p>
        </p:txBody>
      </p:sp>
      <p:sp>
        <p:nvSpPr>
          <p:cNvPr id="13" name="Text 8"/>
          <p:cNvSpPr/>
          <p:nvPr/>
        </p:nvSpPr>
        <p:spPr>
          <a:xfrm>
            <a:off x="457189" y="6069409"/>
            <a:ext cx="7670608" cy="222845"/>
          </a:xfrm>
          <a:prstGeom prst="rect">
            <a:avLst/>
          </a:prstGeom>
          <a:noFill/>
          <a:ln/>
        </p:spPr>
        <p:txBody>
          <a:bodyPr wrap="none" lIns="0" tIns="0" rIns="0" bIns="0" rtlCol="0" anchor="t"/>
          <a:lstStyle/>
          <a:p>
            <a:pPr algn="l" indent="0" marL="0">
              <a:lnSpc>
                <a:spcPct val="113000"/>
              </a:lnSpc>
              <a:buNone/>
            </a:pPr>
            <a:r>
              <a:rPr lang="en-US" sz="1300" spc="13" kern="100" dirty="0">
                <a:solidFill>
                  <a:srgbClr val="5B5E66"/>
                </a:solidFill>
                <a:latin typeface="Inter" pitchFamily="34" charset="0"/>
                <a:ea typeface="Inter" pitchFamily="34" charset="-122"/>
                <a:cs typeface="Inter" pitchFamily="34" charset="-120"/>
              </a:rPr>
              <a:t>Dashboard demo ma’lumotlari bilan ko‘rsatiladi; tasdiqlanmagan raqamlar ishlatilmaydi.</a:t>
            </a:r>
            <a:endParaRPr lang="en-US" sz="1300" dirty="0"/>
          </a:p>
        </p:txBody>
      </p:sp>
      <p:sp>
        <p:nvSpPr>
          <p:cNvPr id="14" name="Shape 9"/>
          <p:cNvSpPr/>
          <p:nvPr/>
        </p:nvSpPr>
        <p:spPr>
          <a:xfrm>
            <a:off x="8127797" y="0"/>
            <a:ext cx="4063898" cy="6858000"/>
          </a:xfrm>
          <a:prstGeom prst="roundRect">
            <a:avLst>
              <a:gd name="adj" fmla="val 5250"/>
            </a:avLst>
          </a:prstGeom>
          <a:noFill/>
          <a:ln/>
          <a:effectLst>
            <a:outerShdw sx="100000" sy="100000" kx="0" ky="0" algn="bl" rotWithShape="0" blurRad="100330" dist="24130" dir="5400000">
              <a:srgbClr val="111214">
                <a:alpha val="1000"/>
              </a:srgbClr>
            </a:outerShdw>
          </a:effectLst>
        </p:spPr>
      </p:sp>
      <p:pic>
        <p:nvPicPr>
          <p:cNvPr id="15" name="Image 3" descr="preencoded.png">    </p:cNvPr>
          <p:cNvPicPr>
            <a:picLocks noChangeAspect="1"/>
          </p:cNvPicPr>
          <p:nvPr/>
        </p:nvPicPr>
        <p:blipFill>
          <a:blip r:embed="rId4"/>
          <a:stretch>
            <a:fillRect/>
          </a:stretch>
        </p:blipFill>
        <p:spPr>
          <a:xfrm>
            <a:off x="8127797" y="0"/>
            <a:ext cx="406389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7467413" cy="190500"/>
          </a:xfrm>
          <a:prstGeom prst="rect">
            <a:avLst/>
          </a:prstGeom>
          <a:noFill/>
          <a:ln/>
        </p:spPr>
        <p:txBody>
          <a:bodyPr wrap="none" lIns="0" tIns="0" rIns="0" bIns="0" rtlCol="0" anchor="t"/>
          <a:lstStyle/>
          <a:p>
            <a:pPr algn="l" indent="0" marL="0">
              <a:lnSpc>
                <a:spcPct val="104000"/>
              </a:lnSpc>
              <a:buNone/>
            </a:pPr>
            <a:r>
              <a:rPr lang="en-US" sz="1200" spc="120" kern="100" dirty="0">
                <a:solidFill>
                  <a:srgbClr val="5B5E66"/>
                </a:solidFill>
                <a:latin typeface="Inter SemiBold" pitchFamily="34" charset="0"/>
                <a:ea typeface="Inter SemiBold" pitchFamily="34" charset="-122"/>
                <a:cs typeface="Inter SemiBold" pitchFamily="34" charset="-120"/>
              </a:rPr>
              <a:t>KEYINGI QADAM</a:t>
            </a:r>
            <a:endParaRPr lang="en-US" sz="1200" dirty="0"/>
          </a:p>
        </p:txBody>
      </p:sp>
      <p:sp>
        <p:nvSpPr>
          <p:cNvPr id="3" name="Text 1"/>
          <p:cNvSpPr/>
          <p:nvPr/>
        </p:nvSpPr>
        <p:spPr>
          <a:xfrm>
            <a:off x="457189" y="727075"/>
            <a:ext cx="7010225" cy="1173361"/>
          </a:xfrm>
          <a:prstGeom prst="rect">
            <a:avLst/>
          </a:prstGeom>
          <a:noFill/>
          <a:ln/>
        </p:spPr>
        <p:txBody>
          <a:bodyPr wrap="square" lIns="0" tIns="0" rIns="0" bIns="0" rtlCol="0" anchor="t">
            <a:normAutofit/>
          </a:bodyPr>
          <a:lstStyle/>
          <a:p>
            <a:pPr algn="l" indent="0" marL="0">
              <a:lnSpc>
                <a:spcPct val="87000"/>
              </a:lnSpc>
              <a:buNone/>
            </a:pPr>
            <a:r>
              <a:rPr lang="en-US" sz="4400" spc="-97" kern="100" dirty="0">
                <a:solidFill>
                  <a:srgbClr val="111214"/>
                </a:solidFill>
                <a:latin typeface="Manrope SemiBold" pitchFamily="34" charset="0"/>
                <a:ea typeface="Manrope SemiBold" pitchFamily="34" charset="-122"/>
                <a:cs typeface="Manrope SemiBold" pitchFamily="34" charset="-120"/>
              </a:rPr>
              <a:t>Keyingi qadam: bitta kursdan real pilotga</a:t>
            </a:r>
            <a:endParaRPr lang="en-US" sz="4400" dirty="0"/>
          </a:p>
        </p:txBody>
      </p:sp>
      <p:sp>
        <p:nvSpPr>
          <p:cNvPr id="4" name="Text 2"/>
          <p:cNvSpPr/>
          <p:nvPr/>
        </p:nvSpPr>
        <p:spPr>
          <a:xfrm>
            <a:off x="457189" y="2097286"/>
            <a:ext cx="7010225"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NeuraLearn Hub minglab vositalarni ko‘paytirmaydi — kerakli funksiyalarni bitta qulay Hub’ga yig‘adi.</a:t>
            </a:r>
            <a:endParaRPr lang="en-US" sz="1700" dirty="0"/>
          </a:p>
        </p:txBody>
      </p:sp>
      <p:sp>
        <p:nvSpPr>
          <p:cNvPr id="5" name="Text 3"/>
          <p:cNvSpPr/>
          <p:nvPr/>
        </p:nvSpPr>
        <p:spPr>
          <a:xfrm>
            <a:off x="457189" y="2870795"/>
            <a:ext cx="335271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Tanlash</a:t>
            </a:r>
            <a:endParaRPr lang="en-US" sz="2000" dirty="0"/>
          </a:p>
        </p:txBody>
      </p:sp>
      <p:sp>
        <p:nvSpPr>
          <p:cNvPr id="6" name="Text 4"/>
          <p:cNvSpPr/>
          <p:nvPr/>
        </p:nvSpPr>
        <p:spPr>
          <a:xfrm>
            <a:off x="457189" y="3331170"/>
            <a:ext cx="3352716"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Bitta fan, kurs yoki o‘quv guruhini tanlash.</a:t>
            </a:r>
            <a:endParaRPr lang="en-US" sz="1700" dirty="0"/>
          </a:p>
        </p:txBody>
      </p:sp>
      <p:sp>
        <p:nvSpPr>
          <p:cNvPr id="7" name="Text 5"/>
          <p:cNvSpPr/>
          <p:nvPr/>
        </p:nvSpPr>
        <p:spPr>
          <a:xfrm>
            <a:off x="4114697" y="2870795"/>
            <a:ext cx="335271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Ishlab chiqish</a:t>
            </a:r>
            <a:endParaRPr lang="en-US" sz="2000" dirty="0"/>
          </a:p>
        </p:txBody>
      </p:sp>
      <p:sp>
        <p:nvSpPr>
          <p:cNvPr id="8" name="Text 6"/>
          <p:cNvSpPr/>
          <p:nvPr/>
        </p:nvSpPr>
        <p:spPr>
          <a:xfrm>
            <a:off x="4114697" y="3331170"/>
            <a:ext cx="3352716"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Interaktiv dars + quiz + AI tutor ssenariysini ishlab chiqish.</a:t>
            </a:r>
            <a:endParaRPr lang="en-US" sz="1700" dirty="0"/>
          </a:p>
        </p:txBody>
      </p:sp>
      <p:sp>
        <p:nvSpPr>
          <p:cNvPr id="9" name="Text 7"/>
          <p:cNvSpPr/>
          <p:nvPr/>
        </p:nvSpPr>
        <p:spPr>
          <a:xfrm>
            <a:off x="457189" y="4231680"/>
            <a:ext cx="335271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Sinash</a:t>
            </a:r>
            <a:endParaRPr lang="en-US" sz="2000" dirty="0"/>
          </a:p>
        </p:txBody>
      </p:sp>
      <p:sp>
        <p:nvSpPr>
          <p:cNvPr id="10" name="Text 8"/>
          <p:cNvSpPr/>
          <p:nvPr/>
        </p:nvSpPr>
        <p:spPr>
          <a:xfrm>
            <a:off x="457189" y="4692055"/>
            <a:ext cx="3352716"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O‘qituvchi va o‘quvchi bilan pilot sinovdan o‘tkazish.</a:t>
            </a:r>
            <a:endParaRPr lang="en-US" sz="1700" dirty="0"/>
          </a:p>
        </p:txBody>
      </p:sp>
      <p:sp>
        <p:nvSpPr>
          <p:cNvPr id="11" name="Text 9"/>
          <p:cNvSpPr/>
          <p:nvPr/>
        </p:nvSpPr>
        <p:spPr>
          <a:xfrm>
            <a:off x="4114697" y="4231680"/>
            <a:ext cx="3352716" cy="317500"/>
          </a:xfrm>
          <a:prstGeom prst="rect">
            <a:avLst/>
          </a:prstGeom>
          <a:noFill/>
          <a:ln/>
        </p:spPr>
        <p:txBody>
          <a:bodyPr wrap="none" lIns="0" tIns="0" rIns="0" bIns="0" rtlCol="0" anchor="t"/>
          <a:lstStyle/>
          <a:p>
            <a:pPr algn="l" indent="0" marL="0">
              <a:lnSpc>
                <a:spcPct val="104000"/>
              </a:lnSpc>
              <a:buNone/>
            </a:pPr>
            <a:r>
              <a:rPr lang="en-US" sz="2000" spc="-10" kern="100" dirty="0">
                <a:solidFill>
                  <a:srgbClr val="111214"/>
                </a:solidFill>
                <a:latin typeface="Inter SemiBold" pitchFamily="34" charset="0"/>
                <a:ea typeface="Inter SemiBold" pitchFamily="34" charset="-122"/>
                <a:cs typeface="Inter SemiBold" pitchFamily="34" charset="-120"/>
              </a:rPr>
              <a:t>Kengaytirish</a:t>
            </a:r>
            <a:endParaRPr lang="en-US" sz="2000" dirty="0"/>
          </a:p>
        </p:txBody>
      </p:sp>
      <p:sp>
        <p:nvSpPr>
          <p:cNvPr id="12" name="Text 10"/>
          <p:cNvSpPr/>
          <p:nvPr/>
        </p:nvSpPr>
        <p:spPr>
          <a:xfrm>
            <a:off x="4114697" y="4692055"/>
            <a:ext cx="3352716"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11214"/>
                </a:solidFill>
                <a:latin typeface="Inter" pitchFamily="34" charset="0"/>
                <a:ea typeface="Inter" pitchFamily="34" charset="-122"/>
                <a:cs typeface="Inter" pitchFamily="34" charset="-120"/>
              </a:rPr>
              <a:t>Feedback asosida Study Battle, analytics va keyingi modullarni kengaytirish.</a:t>
            </a:r>
            <a:endParaRPr lang="en-US" sz="1700" dirty="0"/>
          </a:p>
        </p:txBody>
      </p:sp>
      <p:sp>
        <p:nvSpPr>
          <p:cNvPr id="13" name="Shape 11"/>
          <p:cNvSpPr/>
          <p:nvPr/>
        </p:nvSpPr>
        <p:spPr>
          <a:xfrm>
            <a:off x="7924602" y="0"/>
            <a:ext cx="4267093" cy="6858000"/>
          </a:xfrm>
          <a:prstGeom prst="roundRect">
            <a:avLst>
              <a:gd name="adj" fmla="val 5000"/>
            </a:avLst>
          </a:prstGeom>
          <a:noFill/>
          <a:ln/>
          <a:effectLst>
            <a:outerShdw sx="100000" sy="100000" kx="0" ky="0" algn="bl" rotWithShape="0" blurRad="100330" dist="24130" dir="5400000">
              <a:srgbClr val="111214">
                <a:alpha val="1000"/>
              </a:srgbClr>
            </a:outerShdw>
          </a:effectLst>
        </p:spPr>
      </p:sp>
      <p:pic>
        <p:nvPicPr>
          <p:cNvPr id="14" name="Image 0" descr="preencoded.png">    </p:cNvPr>
          <p:cNvPicPr>
            <a:picLocks noChangeAspect="1"/>
          </p:cNvPicPr>
          <p:nvPr/>
        </p:nvPicPr>
        <p:blipFill>
          <a:blip r:embed="rId1"/>
          <a:stretch>
            <a:fillRect/>
          </a:stretch>
        </p:blipFill>
        <p:spPr>
          <a:xfrm>
            <a:off x="7924602" y="0"/>
            <a:ext cx="4267093"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2026-10-04T06:36:19Z</dcterms:created>
  <dcterms:modified xsi:type="dcterms:W3CDTF">2026-10-04T06:36:19Z</dcterms:modified>
</cp:coreProperties>
</file>